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38"/>
  </p:handoutMasterIdLst>
  <p:sldIdLst>
    <p:sldId id="397" r:id="rId3"/>
    <p:sldId id="495" r:id="rId4"/>
    <p:sldId id="496" r:id="rId5"/>
    <p:sldId id="582" r:id="rId6"/>
    <p:sldId id="551" r:id="rId7"/>
    <p:sldId id="494" r:id="rId8"/>
    <p:sldId id="448" r:id="rId9"/>
    <p:sldId id="449" r:id="rId10"/>
    <p:sldId id="524" r:id="rId11"/>
    <p:sldId id="525" r:id="rId12"/>
    <p:sldId id="488" r:id="rId13"/>
    <p:sldId id="450" r:id="rId14"/>
    <p:sldId id="489" r:id="rId15"/>
    <p:sldId id="490" r:id="rId16"/>
    <p:sldId id="491" r:id="rId17"/>
    <p:sldId id="493" r:id="rId18"/>
    <p:sldId id="497" r:id="rId19"/>
    <p:sldId id="451" r:id="rId20"/>
    <p:sldId id="498" r:id="rId21"/>
    <p:sldId id="499" r:id="rId22"/>
    <p:sldId id="455" r:id="rId23"/>
    <p:sldId id="456" r:id="rId24"/>
    <p:sldId id="457" r:id="rId25"/>
    <p:sldId id="459" r:id="rId26"/>
    <p:sldId id="478" r:id="rId27"/>
    <p:sldId id="479" r:id="rId28"/>
    <p:sldId id="526" r:id="rId29"/>
    <p:sldId id="462" r:id="rId30"/>
    <p:sldId id="463" r:id="rId31"/>
    <p:sldId id="464" r:id="rId32"/>
    <p:sldId id="465" r:id="rId33"/>
    <p:sldId id="473" r:id="rId34"/>
    <p:sldId id="474" r:id="rId35"/>
    <p:sldId id="475" r:id="rId36"/>
    <p:sldId id="476" r:id="rId37"/>
  </p:sldIdLst>
  <p:sldSz cx="9144000" cy="6858000" type="screen4x3"/>
  <p:notesSz cx="9144000" cy="6858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20"/>
    <p:restoredTop sz="94601"/>
  </p:normalViewPr>
  <p:slideViewPr>
    <p:cSldViewPr showGuides="1">
      <p:cViewPr>
        <p:scale>
          <a:sx n="100" d="100"/>
          <a:sy n="100" d="100"/>
        </p:scale>
        <p:origin x="-1104" y="-762"/>
      </p:cViewPr>
      <p:guideLst>
        <p:guide orient="horz" pos="2159"/>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26.wmf"/><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482" name="Rectangle 2"/>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smtClean="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483" name="Rectangle 3"/>
          <p:cNvSpPr>
            <a:spLocks noGrp="1" noChangeArrowheads="1"/>
          </p:cNvSpPr>
          <p:nvPr>
            <p:ph type="dt" sz="quarter" idx="1"/>
          </p:nvPr>
        </p:nvSpPr>
        <p:spPr bwMode="auto">
          <a:xfrm>
            <a:off x="5180013"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smtClean="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DF54E65-48EE-4C54-9B1B-BD6D6CE499A6}" type="datetimeFigureOut">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484" name="Rectangle 4"/>
          <p:cNvSpPr>
            <a:spLocks noGrp="1" noChangeArrowheads="1"/>
          </p:cNvSpPr>
          <p:nvPr>
            <p:ph type="ftr" sz="quarter" idx="2"/>
          </p:nvPr>
        </p:nvSpPr>
        <p:spPr bwMode="auto">
          <a:xfrm>
            <a:off x="0" y="6513513"/>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smtClean="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485" name="Rectangle 5"/>
          <p:cNvSpPr>
            <a:spLocks noGrp="1" noChangeArrowheads="1"/>
          </p:cNvSpPr>
          <p:nvPr>
            <p:ph type="sldNum" sz="quarter" idx="3"/>
          </p:nvPr>
        </p:nvSpPr>
        <p:spPr bwMode="auto">
          <a:xfrm>
            <a:off x="5180013" y="6513513"/>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
            <a:pPr lvl="0" algn="r" eaLnBrk="1" fontAlgn="base" hangingPunct="1">
              <a:buNone/>
            </a:pPr>
            <a:fld id="{9A0DB2DC-4C9A-4742-B13C-FB6460FD3503}" type="slidenum">
              <a:rPr lang="zh-CN" altLang="en-US" sz="1200" strike="noStrike" noProof="1" dirty="0">
                <a:latin typeface="Times New Roman" panose="02020603050405020304" pitchFamily="18" charset="0"/>
                <a:ea typeface="宋体" panose="02010600030101010101" pitchFamily="2" charset="-122"/>
                <a:cs typeface="+mn-cs"/>
              </a:rPr>
            </a:fld>
            <a:endParaRPr lang="zh-CN" altLang="en-US" sz="1200" strike="noStrike" noProof="1"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6280"/>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28650" y="1825625"/>
            <a:ext cx="38862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a:prstGeom prst="rect">
            <a:avLst/>
          </a:prstGeo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a:prstGeom prst="rect">
            <a:avLst/>
          </a:prstGeo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ctr" defTabSz="914400" rtl="0" eaLnBrk="0" fontAlgn="base" latinLnBrk="0" hangingPunct="0">
              <a:lnSpc>
                <a:spcPct val="13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6280"/>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28650" y="365125"/>
            <a:ext cx="5800725" cy="58118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图片 1037" descr="A-2-012"/>
          <p:cNvPicPr>
            <a:picLocks noChangeAspect="1"/>
          </p:cNvPicPr>
          <p:nvPr userDrawn="1"/>
        </p:nvPicPr>
        <p:blipFill>
          <a:blip r:embed="rId12"/>
          <a:stretch>
            <a:fillRect/>
          </a:stretch>
        </p:blipFill>
        <p:spPr>
          <a:xfrm>
            <a:off x="0" y="496888"/>
            <a:ext cx="9144000" cy="82550"/>
          </a:xfrm>
          <a:prstGeom prst="rect">
            <a:avLst/>
          </a:prstGeom>
          <a:noFill/>
          <a:ln w="9525">
            <a:noFill/>
          </a:ln>
        </p:spPr>
      </p:pic>
      <p:pic>
        <p:nvPicPr>
          <p:cNvPr id="1027" name="图片 1038" descr="u=1358712971,2375546958&amp;fm=0&amp;gp=46"/>
          <p:cNvPicPr>
            <a:picLocks noChangeAspect="1"/>
          </p:cNvPicPr>
          <p:nvPr userDrawn="1"/>
        </p:nvPicPr>
        <p:blipFill>
          <a:blip r:embed="rId13"/>
          <a:stretch>
            <a:fillRect/>
          </a:stretch>
        </p:blipFill>
        <p:spPr>
          <a:xfrm>
            <a:off x="533400" y="6553200"/>
            <a:ext cx="8382000" cy="3048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130000"/>
        </a:lnSpc>
        <a:spcBef>
          <a:spcPct val="0"/>
        </a:spcBef>
        <a:spcAft>
          <a:spcPct val="0"/>
        </a:spcAft>
        <a:buFont typeface="Arial" panose="020B0604020202020204" pitchFamily="34" charset="0"/>
        <a:defRPr sz="2400" kern="1200">
          <a:solidFill>
            <a:schemeClr val="tx2"/>
          </a:solidFill>
          <a:latin typeface="+mj-lt"/>
          <a:ea typeface="+mj-ea"/>
          <a:cs typeface="+mj-cs"/>
        </a:defRPr>
      </a:lvl1pPr>
      <a:lvl2pPr algn="l" rtl="0" eaLnBrk="0" fontAlgn="base" hangingPunct="0">
        <a:lnSpc>
          <a:spcPct val="130000"/>
        </a:lnSpc>
        <a:spcBef>
          <a:spcPct val="0"/>
        </a:spcBef>
        <a:spcAft>
          <a:spcPct val="0"/>
        </a:spcAft>
        <a:buFont typeface="Arial" panose="020B0604020202020204" pitchFamily="34" charset="0"/>
        <a:defRPr sz="2400">
          <a:solidFill>
            <a:schemeClr val="tx2"/>
          </a:solidFill>
          <a:latin typeface="Arial" panose="020B0604020202020204" pitchFamily="34" charset="0"/>
          <a:ea typeface="宋体" panose="02010600030101010101" pitchFamily="2" charset="-122"/>
        </a:defRPr>
      </a:lvl2pPr>
      <a:lvl3pPr algn="l" rtl="0" eaLnBrk="0" fontAlgn="base" hangingPunct="0">
        <a:lnSpc>
          <a:spcPct val="130000"/>
        </a:lnSpc>
        <a:spcBef>
          <a:spcPct val="0"/>
        </a:spcBef>
        <a:spcAft>
          <a:spcPct val="0"/>
        </a:spcAft>
        <a:buFont typeface="Arial" panose="020B0604020202020204" pitchFamily="34" charset="0"/>
        <a:defRPr sz="2400">
          <a:solidFill>
            <a:schemeClr val="tx2"/>
          </a:solidFill>
          <a:latin typeface="Arial" panose="020B0604020202020204" pitchFamily="34" charset="0"/>
          <a:ea typeface="宋体" panose="02010600030101010101" pitchFamily="2" charset="-122"/>
        </a:defRPr>
      </a:lvl3pPr>
      <a:lvl4pPr algn="l" rtl="0" eaLnBrk="0" fontAlgn="base" hangingPunct="0">
        <a:lnSpc>
          <a:spcPct val="130000"/>
        </a:lnSpc>
        <a:spcBef>
          <a:spcPct val="0"/>
        </a:spcBef>
        <a:spcAft>
          <a:spcPct val="0"/>
        </a:spcAft>
        <a:buFont typeface="Arial" panose="020B0604020202020204" pitchFamily="34" charset="0"/>
        <a:defRPr sz="2400">
          <a:solidFill>
            <a:schemeClr val="tx2"/>
          </a:solidFill>
          <a:latin typeface="Arial" panose="020B0604020202020204" pitchFamily="34" charset="0"/>
          <a:ea typeface="宋体" panose="02010600030101010101" pitchFamily="2" charset="-122"/>
        </a:defRPr>
      </a:lvl4pPr>
      <a:lvl5pPr algn="l" rtl="0" eaLnBrk="0" fontAlgn="base" hangingPunct="0">
        <a:lnSpc>
          <a:spcPct val="130000"/>
        </a:lnSpc>
        <a:spcBef>
          <a:spcPct val="0"/>
        </a:spcBef>
        <a:spcAft>
          <a:spcPct val="0"/>
        </a:spcAft>
        <a:buFont typeface="Arial" panose="020B0604020202020204" pitchFamily="34" charset="0"/>
        <a:defRPr sz="2400">
          <a:solidFill>
            <a:schemeClr val="tx2"/>
          </a:solidFill>
          <a:latin typeface="Arial" panose="020B0604020202020204" pitchFamily="34" charset="0"/>
          <a:ea typeface="宋体" panose="02010600030101010101" pitchFamily="2" charset="-122"/>
        </a:defRPr>
      </a:lvl5pPr>
      <a:lvl6pPr marL="457200" algn="l" rtl="0" fontAlgn="base">
        <a:lnSpc>
          <a:spcPct val="130000"/>
        </a:lnSpc>
        <a:spcBef>
          <a:spcPct val="0"/>
        </a:spcBef>
        <a:spcAft>
          <a:spcPct val="0"/>
        </a:spcAft>
        <a:buFont typeface="Arial" panose="020B0604020202020204" pitchFamily="34" charset="0"/>
        <a:defRPr sz="2400">
          <a:solidFill>
            <a:schemeClr val="tx2"/>
          </a:solidFill>
          <a:latin typeface="Arial" panose="020B0604020202020204" pitchFamily="34" charset="0"/>
          <a:ea typeface="宋体" panose="02010600030101010101" pitchFamily="2" charset="-122"/>
        </a:defRPr>
      </a:lvl6pPr>
      <a:lvl7pPr marL="914400" algn="l" rtl="0" fontAlgn="base">
        <a:lnSpc>
          <a:spcPct val="130000"/>
        </a:lnSpc>
        <a:spcBef>
          <a:spcPct val="0"/>
        </a:spcBef>
        <a:spcAft>
          <a:spcPct val="0"/>
        </a:spcAft>
        <a:buFont typeface="Arial" panose="020B0604020202020204" pitchFamily="34" charset="0"/>
        <a:defRPr sz="2400">
          <a:solidFill>
            <a:schemeClr val="tx2"/>
          </a:solidFill>
          <a:latin typeface="Arial" panose="020B0604020202020204" pitchFamily="34" charset="0"/>
          <a:ea typeface="宋体" panose="02010600030101010101" pitchFamily="2" charset="-122"/>
        </a:defRPr>
      </a:lvl7pPr>
      <a:lvl8pPr marL="1371600" algn="l" rtl="0" fontAlgn="base">
        <a:lnSpc>
          <a:spcPct val="130000"/>
        </a:lnSpc>
        <a:spcBef>
          <a:spcPct val="0"/>
        </a:spcBef>
        <a:spcAft>
          <a:spcPct val="0"/>
        </a:spcAft>
        <a:buFont typeface="Arial" panose="020B0604020202020204" pitchFamily="34" charset="0"/>
        <a:defRPr sz="2400">
          <a:solidFill>
            <a:schemeClr val="tx2"/>
          </a:solidFill>
          <a:latin typeface="Arial" panose="020B0604020202020204" pitchFamily="34" charset="0"/>
          <a:ea typeface="宋体" panose="02010600030101010101" pitchFamily="2" charset="-122"/>
        </a:defRPr>
      </a:lvl8pPr>
      <a:lvl9pPr marL="1828800" algn="l" rtl="0" fontAlgn="base">
        <a:lnSpc>
          <a:spcPct val="130000"/>
        </a:lnSpc>
        <a:spcBef>
          <a:spcPct val="0"/>
        </a:spcBef>
        <a:spcAft>
          <a:spcPct val="0"/>
        </a:spcAft>
        <a:buFont typeface="Arial" panose="020B0604020202020204" pitchFamily="34" charset="0"/>
        <a:defRPr sz="2400">
          <a:solidFill>
            <a:schemeClr val="tx2"/>
          </a:solidFill>
          <a:latin typeface="Arial" panose="020B0604020202020204" pitchFamily="34" charset="0"/>
          <a:ea typeface="宋体" panose="02010600030101010101" pitchFamily="2" charset="-122"/>
        </a:defRPr>
      </a:lvl9pPr>
    </p:titleStyle>
    <p:bodyStyle>
      <a:lvl1pPr marL="342900" indent="-342900" algn="ctr" rtl="0" eaLnBrk="0" fontAlgn="base" hangingPunct="0">
        <a:lnSpc>
          <a:spcPct val="130000"/>
        </a:lnSpc>
        <a:spcBef>
          <a:spcPct val="20000"/>
        </a:spcBef>
        <a:spcAft>
          <a:spcPct val="0"/>
        </a:spcAft>
        <a:buFont typeface="Arial" panose="020B0604020202020204" pitchFamily="34" charset="0"/>
        <a:defRPr sz="2400" kern="12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Font typeface="Arial" panose="020B0604020202020204" pitchFamily="34" charset="0"/>
        <a:defRPr sz="2400" kern="1200">
          <a:solidFill>
            <a:schemeClr val="tx1"/>
          </a:solidFill>
          <a:latin typeface="+mn-lt"/>
          <a:ea typeface="+mn-ea"/>
          <a:cs typeface="+mn-cs"/>
        </a:defRPr>
      </a:lvl2pPr>
      <a:lvl3pPr marL="1143000" lvl="2" indent="-228600" algn="l" rtl="0" eaLnBrk="0" fontAlgn="base" hangingPunct="0">
        <a:lnSpc>
          <a:spcPct val="130000"/>
        </a:lnSpc>
        <a:spcBef>
          <a:spcPct val="20000"/>
        </a:spcBef>
        <a:spcAft>
          <a:spcPct val="0"/>
        </a:spcAft>
        <a:buFont typeface="Arial" panose="020B0604020202020204" pitchFamily="34" charset="0"/>
        <a:defRPr sz="2400" kern="1200">
          <a:solidFill>
            <a:schemeClr val="tx1"/>
          </a:solidFill>
          <a:latin typeface="+mn-lt"/>
          <a:ea typeface="+mn-ea"/>
          <a:cs typeface="+mn-cs"/>
        </a:defRPr>
      </a:lvl3pPr>
      <a:lvl4pPr marL="1600200" lvl="3" indent="-228600" algn="l" rtl="0" eaLnBrk="0" fontAlgn="base" hangingPunct="0">
        <a:lnSpc>
          <a:spcPct val="130000"/>
        </a:lnSpc>
        <a:spcBef>
          <a:spcPct val="20000"/>
        </a:spcBef>
        <a:spcAft>
          <a:spcPct val="0"/>
        </a:spcAft>
        <a:buFont typeface="Arial" panose="020B0604020202020204" pitchFamily="34" charset="0"/>
        <a:defRPr sz="2400" kern="1200">
          <a:solidFill>
            <a:schemeClr val="tx1"/>
          </a:solidFill>
          <a:latin typeface="+mn-lt"/>
          <a:ea typeface="+mn-ea"/>
          <a:cs typeface="+mn-cs"/>
        </a:defRPr>
      </a:lvl4pPr>
      <a:lvl5pPr marL="2057400" lvl="4" indent="-228600" algn="l" rtl="0" eaLnBrk="0" fontAlgn="base" hangingPunct="0">
        <a:lnSpc>
          <a:spcPct val="130000"/>
        </a:lnSpc>
        <a:spcBef>
          <a:spcPct val="20000"/>
        </a:spcBef>
        <a:spcAft>
          <a:spcPct val="0"/>
        </a:spcAft>
        <a:buFont typeface="Arial" panose="020B0604020202020204" pitchFamily="34" charset="0"/>
        <a:defRPr sz="2400" kern="1200">
          <a:solidFill>
            <a:schemeClr val="tx1"/>
          </a:solidFill>
          <a:latin typeface="+mn-lt"/>
          <a:ea typeface="+mn-ea"/>
          <a:cs typeface="+mn-cs"/>
        </a:defRPr>
      </a:lvl5pPr>
      <a:lvl6pPr marL="2514600" lvl="5" indent="-228600" algn="l" defTabSz="914400" eaLnBrk="1" fontAlgn="base" latinLnBrk="0" hangingPunct="1">
        <a:lnSpc>
          <a:spcPct val="130000"/>
        </a:lnSpc>
        <a:spcBef>
          <a:spcPct val="20000"/>
        </a:spcBef>
        <a:spcAft>
          <a:spcPct val="0"/>
        </a:spcAft>
        <a:buNone/>
        <a:defRPr sz="2400" b="0" i="0" u="none" kern="1200" baseline="0">
          <a:solidFill>
            <a:schemeClr val="tx1"/>
          </a:solidFill>
          <a:latin typeface="+mn-lt"/>
          <a:ea typeface="+mn-ea"/>
          <a:cs typeface="+mn-cs"/>
        </a:defRPr>
      </a:lvl6pPr>
      <a:lvl7pPr marL="2971800" lvl="6" indent="-228600" algn="l" defTabSz="914400" eaLnBrk="1" fontAlgn="base" latinLnBrk="0" hangingPunct="1">
        <a:lnSpc>
          <a:spcPct val="130000"/>
        </a:lnSpc>
        <a:spcBef>
          <a:spcPct val="20000"/>
        </a:spcBef>
        <a:spcAft>
          <a:spcPct val="0"/>
        </a:spcAft>
        <a:buNone/>
        <a:defRPr sz="2400" b="0" i="0" u="none" kern="1200" baseline="0">
          <a:solidFill>
            <a:schemeClr val="tx1"/>
          </a:solidFill>
          <a:latin typeface="+mn-lt"/>
          <a:ea typeface="+mn-ea"/>
          <a:cs typeface="+mn-cs"/>
        </a:defRPr>
      </a:lvl7pPr>
      <a:lvl8pPr marL="3429000" lvl="7" indent="-228600" algn="l" defTabSz="914400" eaLnBrk="1" fontAlgn="base" latinLnBrk="0" hangingPunct="1">
        <a:lnSpc>
          <a:spcPct val="130000"/>
        </a:lnSpc>
        <a:spcBef>
          <a:spcPct val="20000"/>
        </a:spcBef>
        <a:spcAft>
          <a:spcPct val="0"/>
        </a:spcAft>
        <a:buNone/>
        <a:defRPr sz="2400" b="0" i="0" u="none" kern="1200" baseline="0">
          <a:solidFill>
            <a:schemeClr val="tx1"/>
          </a:solidFill>
          <a:latin typeface="+mn-lt"/>
          <a:ea typeface="+mn-ea"/>
          <a:cs typeface="+mn-cs"/>
        </a:defRPr>
      </a:lvl8pPr>
      <a:lvl9pPr marL="3886200" lvl="8" indent="-228600" algn="l" defTabSz="914400" eaLnBrk="1" fontAlgn="base" latinLnBrk="0" hangingPunct="1">
        <a:lnSpc>
          <a:spcPct val="130000"/>
        </a:lnSpc>
        <a:spcBef>
          <a:spcPct val="20000"/>
        </a:spcBef>
        <a:spcAft>
          <a:spcPct val="0"/>
        </a:spcAft>
        <a:buNone/>
        <a:defRPr sz="24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None/>
        <a:defRPr sz="24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None/>
        <a:defRPr sz="24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None/>
        <a:defRPr sz="24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None/>
        <a:defRPr sz="24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None/>
        <a:defRPr sz="24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None/>
        <a:defRPr sz="24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None/>
        <a:defRPr sz="24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None/>
        <a:defRPr sz="24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None/>
        <a:defRPr sz="24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7.wmf"/><Relationship Id="rId3" Type="http://schemas.openxmlformats.org/officeDocument/2006/relationships/oleObject" Target="../embeddings/oleObject2.bin"/><Relationship Id="rId2" Type="http://schemas.openxmlformats.org/officeDocument/2006/relationships/image" Target="../media/image6.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9.wmf"/><Relationship Id="rId3" Type="http://schemas.openxmlformats.org/officeDocument/2006/relationships/oleObject" Target="../embeddings/oleObject4.bin"/><Relationship Id="rId2" Type="http://schemas.openxmlformats.org/officeDocument/2006/relationships/image" Target="../media/image8.wmf"/><Relationship Id="rId1"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wmf"/><Relationship Id="rId3" Type="http://schemas.openxmlformats.org/officeDocument/2006/relationships/oleObject" Target="../embeddings/oleObject6.bin"/><Relationship Id="rId2" Type="http://schemas.openxmlformats.org/officeDocument/2006/relationships/image" Target="../media/image14.wmf"/><Relationship Id="rId1"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19.wmf"/><Relationship Id="rId3" Type="http://schemas.openxmlformats.org/officeDocument/2006/relationships/oleObject" Target="../embeddings/oleObject8.bin"/><Relationship Id="rId2" Type="http://schemas.openxmlformats.org/officeDocument/2006/relationships/image" Target="../media/image18.wmf"/><Relationship Id="rId1" Type="http://schemas.openxmlformats.org/officeDocument/2006/relationships/oleObject" Target="../embeddings/oleObject7.bin"/></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21.wmf"/><Relationship Id="rId3" Type="http://schemas.openxmlformats.org/officeDocument/2006/relationships/oleObject" Target="../embeddings/oleObject10.bin"/><Relationship Id="rId2" Type="http://schemas.openxmlformats.org/officeDocument/2006/relationships/image" Target="../media/image20.wmf"/><Relationship Id="rId1"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25.wmf"/><Relationship Id="rId7" Type="http://schemas.openxmlformats.org/officeDocument/2006/relationships/oleObject" Target="../embeddings/oleObject14.bin"/><Relationship Id="rId6" Type="http://schemas.openxmlformats.org/officeDocument/2006/relationships/image" Target="../media/image24.wmf"/><Relationship Id="rId5" Type="http://schemas.openxmlformats.org/officeDocument/2006/relationships/oleObject" Target="../embeddings/oleObject13.bin"/><Relationship Id="rId4" Type="http://schemas.openxmlformats.org/officeDocument/2006/relationships/image" Target="../media/image23.wmf"/><Relationship Id="rId3" Type="http://schemas.openxmlformats.org/officeDocument/2006/relationships/oleObject" Target="../embeddings/oleObject12.bin"/><Relationship Id="rId2" Type="http://schemas.openxmlformats.org/officeDocument/2006/relationships/image" Target="../media/image22.wmf"/><Relationship Id="rId12" Type="http://schemas.openxmlformats.org/officeDocument/2006/relationships/vmlDrawing" Target="../drawings/vmlDrawing6.vml"/><Relationship Id="rId11" Type="http://schemas.openxmlformats.org/officeDocument/2006/relationships/slideLayout" Target="../slideLayouts/slideLayout7.xml"/><Relationship Id="rId10" Type="http://schemas.openxmlformats.org/officeDocument/2006/relationships/image" Target="../media/image26.wmf"/><Relationship Id="rId1" Type="http://schemas.openxmlformats.org/officeDocument/2006/relationships/oleObject" Target="../embeddings/oleObject11.bin"/></Relationships>
</file>

<file path=ppt/slides/_rels/slide25.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28.wmf"/><Relationship Id="rId3" Type="http://schemas.openxmlformats.org/officeDocument/2006/relationships/oleObject" Target="../embeddings/oleObject17.bin"/><Relationship Id="rId2" Type="http://schemas.openxmlformats.org/officeDocument/2006/relationships/image" Target="../media/image27.wmf"/><Relationship Id="rId1" Type="http://schemas.openxmlformats.org/officeDocument/2006/relationships/oleObject" Target="../embeddings/oleObject16.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7.xml"/><Relationship Id="rId6" Type="http://schemas.openxmlformats.org/officeDocument/2006/relationships/image" Target="../media/image31.wmf"/><Relationship Id="rId5" Type="http://schemas.openxmlformats.org/officeDocument/2006/relationships/oleObject" Target="../embeddings/oleObject20.bin"/><Relationship Id="rId4" Type="http://schemas.openxmlformats.org/officeDocument/2006/relationships/image" Target="../media/image30.wmf"/><Relationship Id="rId3" Type="http://schemas.openxmlformats.org/officeDocument/2006/relationships/oleObject" Target="../embeddings/oleObject19.bin"/><Relationship Id="rId2" Type="http://schemas.openxmlformats.org/officeDocument/2006/relationships/image" Target="../media/image29.wmf"/><Relationship Id="rId1" Type="http://schemas.openxmlformats.org/officeDocument/2006/relationships/oleObject" Target="../embeddings/oleObject18.bin"/></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tags" Target="../tags/tag2.xml"/></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33.wmf"/><Relationship Id="rId1" Type="http://schemas.openxmlformats.org/officeDocument/2006/relationships/oleObject" Target="../embeddings/oleObject21.bin"/></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34.wmf"/><Relationship Id="rId1" Type="http://schemas.openxmlformats.org/officeDocument/2006/relationships/oleObject" Target="../embeddings/oleObject22.bin"/></Relationships>
</file>

<file path=ppt/slides/_rels/slide32.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7.xml"/><Relationship Id="rId6" Type="http://schemas.openxmlformats.org/officeDocument/2006/relationships/image" Target="../media/image37.wmf"/><Relationship Id="rId5" Type="http://schemas.openxmlformats.org/officeDocument/2006/relationships/oleObject" Target="../embeddings/oleObject25.bin"/><Relationship Id="rId4" Type="http://schemas.openxmlformats.org/officeDocument/2006/relationships/image" Target="../media/image36.wmf"/><Relationship Id="rId3" Type="http://schemas.openxmlformats.org/officeDocument/2006/relationships/oleObject" Target="../embeddings/oleObject24.bin"/><Relationship Id="rId2" Type="http://schemas.openxmlformats.org/officeDocument/2006/relationships/image" Target="../media/image35.wmf"/><Relationship Id="rId1" Type="http://schemas.openxmlformats.org/officeDocument/2006/relationships/oleObject" Target="../embeddings/oleObject23.bin"/></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7.xml"/><Relationship Id="rId4" Type="http://schemas.openxmlformats.org/officeDocument/2006/relationships/image" Target="../media/image39.wmf"/><Relationship Id="rId3" Type="http://schemas.openxmlformats.org/officeDocument/2006/relationships/oleObject" Target="../embeddings/oleObject27.bin"/><Relationship Id="rId2" Type="http://schemas.openxmlformats.org/officeDocument/2006/relationships/image" Target="../media/image38.wmf"/><Relationship Id="rId1" Type="http://schemas.openxmlformats.org/officeDocument/2006/relationships/oleObject" Target="../embeddings/oleObject26.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文本框 568326"/>
          <p:cNvSpPr txBox="1"/>
          <p:nvPr/>
        </p:nvSpPr>
        <p:spPr>
          <a:xfrm>
            <a:off x="1258888" y="549275"/>
            <a:ext cx="7058025" cy="830263"/>
          </a:xfrm>
          <a:prstGeom prst="rect">
            <a:avLst/>
          </a:prstGeom>
          <a:noFill/>
          <a:ln w="9525">
            <a:noFill/>
          </a:ln>
        </p:spPr>
        <p:txBody>
          <a:bodyPr anchor="t" anchorCtr="0">
            <a:spAutoFit/>
          </a:bodyPr>
          <a:p>
            <a:pPr algn="ctr">
              <a:lnSpc>
                <a:spcPct val="150000"/>
              </a:lnSpc>
            </a:pPr>
            <a:r>
              <a:rPr lang="zh-CN" altLang="en-US" sz="3200" b="1" dirty="0">
                <a:latin typeface="Times New Roman" panose="02020603050405020304" pitchFamily="18" charset="0"/>
                <a:ea typeface="宋体" panose="02010600030101010101" pitchFamily="2" charset="-122"/>
              </a:rPr>
              <a:t>《数字信号处理实验》</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3074" name="文本框 99"/>
          <p:cNvSpPr txBox="1"/>
          <p:nvPr/>
        </p:nvSpPr>
        <p:spPr>
          <a:xfrm>
            <a:off x="1042988" y="1557338"/>
            <a:ext cx="6505575" cy="4522787"/>
          </a:xfrm>
          <a:prstGeom prst="rect">
            <a:avLst/>
          </a:prstGeom>
          <a:noFill/>
          <a:ln w="9525">
            <a:noFill/>
          </a:ln>
        </p:spPr>
        <p:txBody>
          <a:bodyPr wrap="square" anchor="t" anchorCtr="0">
            <a:spAutoFit/>
          </a:bodyPr>
          <a:p>
            <a:endParaRPr lang="en-US" altLang="zh-CN">
              <a:solidFill>
                <a:srgbClr val="000000"/>
              </a:solidFill>
              <a:latin typeface="楷体_GB2312" charset="0"/>
              <a:ea typeface="宋体" panose="02010600030101010101" pitchFamily="2" charset="-122"/>
            </a:endParaRPr>
          </a:p>
          <a:p>
            <a:r>
              <a:rPr lang="zh-CN" altLang="zh-CN" b="1">
                <a:solidFill>
                  <a:srgbClr val="000000"/>
                </a:solidFill>
                <a:latin typeface="Arial" panose="020B0604020202020204" pitchFamily="34" charset="0"/>
                <a:ea typeface="宋体" panose="02010600030101010101" pitchFamily="2" charset="-122"/>
              </a:rPr>
              <a:t>学时</a:t>
            </a:r>
            <a:r>
              <a:rPr lang="en-US" altLang="zh-CN" b="1">
                <a:solidFill>
                  <a:srgbClr val="000000"/>
                </a:solidFill>
                <a:latin typeface="楷体_GB2312" charset="0"/>
                <a:ea typeface="宋体" panose="02010600030101010101" pitchFamily="2" charset="-122"/>
              </a:rPr>
              <a:t>/</a:t>
            </a:r>
            <a:r>
              <a:rPr lang="zh-CN" altLang="zh-CN" b="1">
                <a:solidFill>
                  <a:srgbClr val="000000"/>
                </a:solidFill>
                <a:latin typeface="Arial" panose="020B0604020202020204" pitchFamily="34" charset="0"/>
                <a:ea typeface="宋体" panose="02010600030101010101" pitchFamily="2" charset="-122"/>
              </a:rPr>
              <a:t>学分：</a:t>
            </a:r>
            <a:r>
              <a:rPr lang="en-US" altLang="zh-CN" b="1">
                <a:solidFill>
                  <a:srgbClr val="000000"/>
                </a:solidFill>
                <a:latin typeface="楷体_GB2312" charset="0"/>
                <a:ea typeface="宋体" panose="02010600030101010101" pitchFamily="2" charset="-122"/>
              </a:rPr>
              <a:t>16/1</a:t>
            </a:r>
            <a:endParaRPr lang="en-US" altLang="zh-CN" b="1">
              <a:solidFill>
                <a:srgbClr val="000000"/>
              </a:solidFill>
              <a:latin typeface="楷体_GB2312" charset="0"/>
              <a:ea typeface="宋体" panose="02010600030101010101" pitchFamily="2" charset="-122"/>
            </a:endParaRPr>
          </a:p>
          <a:p>
            <a:endParaRPr lang="en-US" altLang="zh-CN" b="1">
              <a:solidFill>
                <a:srgbClr val="000000"/>
              </a:solidFill>
              <a:latin typeface="楷体_GB2312" charset="0"/>
              <a:ea typeface="宋体" panose="02010600030101010101" pitchFamily="2" charset="-122"/>
            </a:endParaRPr>
          </a:p>
          <a:p>
            <a:r>
              <a:rPr lang="zh-CN" altLang="zh-CN" b="1">
                <a:solidFill>
                  <a:srgbClr val="000000"/>
                </a:solidFill>
                <a:latin typeface="Arial" panose="020B0604020202020204" pitchFamily="34" charset="0"/>
                <a:ea typeface="宋体" panose="02010600030101010101" pitchFamily="2" charset="-122"/>
              </a:rPr>
              <a:t>实验项目数：</a:t>
            </a:r>
            <a:r>
              <a:rPr lang="en-US" altLang="zh-CN" b="1">
                <a:solidFill>
                  <a:srgbClr val="000000"/>
                </a:solidFill>
                <a:latin typeface="楷体_GB2312" charset="0"/>
                <a:ea typeface="宋体" panose="02010600030101010101" pitchFamily="2" charset="-122"/>
              </a:rPr>
              <a:t>4</a:t>
            </a:r>
            <a:endParaRPr lang="en-US" altLang="zh-CN" b="1">
              <a:solidFill>
                <a:srgbClr val="000000"/>
              </a:solidFill>
              <a:latin typeface="楷体_GB2312" charset="0"/>
              <a:ea typeface="宋体" panose="02010600030101010101" pitchFamily="2" charset="-122"/>
            </a:endParaRPr>
          </a:p>
          <a:p>
            <a:endParaRPr lang="en-US" altLang="zh-CN" b="1">
              <a:solidFill>
                <a:srgbClr val="000000"/>
              </a:solidFill>
              <a:latin typeface="楷体_GB2312" charset="0"/>
              <a:ea typeface="宋体" panose="02010600030101010101" pitchFamily="2" charset="-122"/>
            </a:endParaRPr>
          </a:p>
          <a:p>
            <a:r>
              <a:rPr lang="zh-CN" altLang="zh-CN" b="1">
                <a:solidFill>
                  <a:srgbClr val="000000"/>
                </a:solidFill>
                <a:latin typeface="Arial" panose="020B0604020202020204" pitchFamily="34" charset="0"/>
                <a:ea typeface="宋体" panose="02010600030101010101" pitchFamily="2" charset="-122"/>
              </a:rPr>
              <a:t>先修课程：数字信号处理</a:t>
            </a:r>
            <a:r>
              <a:rPr lang="en-US" altLang="zh-CN" b="1">
                <a:solidFill>
                  <a:srgbClr val="000000"/>
                </a:solidFill>
                <a:latin typeface="Arial" panose="020B0604020202020204" pitchFamily="34" charset="0"/>
                <a:ea typeface="宋体" panose="02010600030101010101" pitchFamily="2" charset="-122"/>
              </a:rPr>
              <a:t>I</a:t>
            </a:r>
            <a:endParaRPr lang="zh-CN" altLang="zh-CN" b="1">
              <a:solidFill>
                <a:srgbClr val="000000"/>
              </a:solidFill>
              <a:latin typeface="Arial" panose="020B0604020202020204" pitchFamily="34" charset="0"/>
              <a:ea typeface="宋体" panose="02010600030101010101" pitchFamily="2" charset="-122"/>
            </a:endParaRPr>
          </a:p>
          <a:p>
            <a:endParaRPr lang="en-US" altLang="zh-CN" b="1">
              <a:solidFill>
                <a:srgbClr val="000000"/>
              </a:solidFill>
              <a:latin typeface="楷体_GB2312" charset="0"/>
              <a:ea typeface="宋体" panose="02010600030101010101" pitchFamily="2" charset="-122"/>
            </a:endParaRPr>
          </a:p>
          <a:p>
            <a:r>
              <a:rPr lang="zh-CN" altLang="zh-CN" b="1">
                <a:solidFill>
                  <a:srgbClr val="000000"/>
                </a:solidFill>
                <a:latin typeface="Arial" panose="020B0604020202020204" pitchFamily="34" charset="0"/>
                <a:ea typeface="宋体" panose="02010600030101010101" pitchFamily="2" charset="-122"/>
              </a:rPr>
              <a:t>开课单位：电子信息学院</a:t>
            </a:r>
            <a:endParaRPr lang="zh-CN" altLang="zh-CN" b="1">
              <a:solidFill>
                <a:srgbClr val="000000"/>
              </a:solidFill>
              <a:latin typeface="Arial" panose="020B0604020202020204" pitchFamily="34" charset="0"/>
              <a:ea typeface="宋体" panose="02010600030101010101" pitchFamily="2" charset="-122"/>
            </a:endParaRPr>
          </a:p>
          <a:p>
            <a:endParaRPr lang="en-US" altLang="zh-CN" b="1">
              <a:solidFill>
                <a:srgbClr val="000000"/>
              </a:solidFill>
              <a:latin typeface="楷体_GB2312" charset="0"/>
              <a:ea typeface="宋体" panose="02010600030101010101" pitchFamily="2" charset="-122"/>
            </a:endParaRPr>
          </a:p>
          <a:p>
            <a:r>
              <a:rPr lang="zh-CN" altLang="zh-CN" b="1">
                <a:solidFill>
                  <a:srgbClr val="000000"/>
                </a:solidFill>
                <a:latin typeface="Arial" panose="020B0604020202020204" pitchFamily="34" charset="0"/>
                <a:ea typeface="宋体" panose="02010600030101010101" pitchFamily="2" charset="-122"/>
              </a:rPr>
              <a:t>开课学期：秋</a:t>
            </a:r>
            <a:endParaRPr lang="zh-CN" altLang="zh-CN" b="1">
              <a:solidFill>
                <a:srgbClr val="000000"/>
              </a:solidFill>
              <a:latin typeface="Arial" panose="020B0604020202020204" pitchFamily="34" charset="0"/>
              <a:ea typeface="宋体" panose="02010600030101010101" pitchFamily="2" charset="-122"/>
            </a:endParaRPr>
          </a:p>
          <a:p>
            <a:endParaRPr lang="en-US" altLang="zh-CN" b="1">
              <a:solidFill>
                <a:srgbClr val="000000"/>
              </a:solidFill>
              <a:latin typeface="楷体_GB2312" charset="0"/>
              <a:ea typeface="宋体" panose="02010600030101010101" pitchFamily="2" charset="-122"/>
            </a:endParaRPr>
          </a:p>
          <a:p>
            <a:r>
              <a:rPr lang="zh-CN" altLang="zh-CN" b="1">
                <a:solidFill>
                  <a:srgbClr val="000000"/>
                </a:solidFill>
                <a:latin typeface="Arial" panose="020B0604020202020204" pitchFamily="34" charset="0"/>
                <a:ea typeface="宋体" panose="02010600030101010101" pitchFamily="2" charset="-122"/>
              </a:rPr>
              <a:t>课程类别：专业选修课程</a:t>
            </a:r>
            <a:endParaRPr lang="zh-CN" altLang="en-US" b="1">
              <a:latin typeface="Arial" panose="020B0604020202020204" pitchFamily="34" charset="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99"/>
          <p:cNvSpPr txBox="1"/>
          <p:nvPr/>
        </p:nvSpPr>
        <p:spPr>
          <a:xfrm>
            <a:off x="420688" y="798513"/>
            <a:ext cx="8159750" cy="5631180"/>
          </a:xfrm>
          <a:prstGeom prst="rect">
            <a:avLst/>
          </a:prstGeom>
          <a:noFill/>
          <a:ln w="9525">
            <a:noFill/>
          </a:ln>
        </p:spPr>
        <p:txBody>
          <a:bodyPr wrap="square" anchor="t" anchorCtr="0">
            <a:spAutoFit/>
          </a:bodyPr>
          <a:p>
            <a:endParaRPr lang="en-US" altLang="zh-CN">
              <a:solidFill>
                <a:srgbClr val="000000"/>
              </a:solidFill>
              <a:latin typeface="楷体_GB2312" charset="0"/>
              <a:ea typeface="宋体" panose="02010600030101010101" pitchFamily="2" charset="-122"/>
            </a:endParaRPr>
          </a:p>
          <a:p>
            <a:r>
              <a:rPr lang="en-US" altLang="zh-CN" b="1">
                <a:latin typeface="Arial" panose="020B0604020202020204" pitchFamily="34" charset="0"/>
                <a:ea typeface="宋体" panose="02010600030101010101" pitchFamily="2" charset="-122"/>
              </a:rPr>
              <a:t>       </a:t>
            </a:r>
            <a:r>
              <a:rPr lang="zh-CN" altLang="en-US" b="1">
                <a:latin typeface="Arial" panose="020B0604020202020204" pitchFamily="34" charset="0"/>
                <a:ea typeface="宋体" panose="02010600030101010101" pitchFamily="2" charset="-122"/>
              </a:rPr>
              <a:t>数字信号处理实验是数字信号处理理论课程的有效的补充部分，通过实验，使得学生了解数字信号处理的工程实现方法和流程，从而对数字信号处理理论有更深入的认识。</a:t>
            </a:r>
            <a:endParaRPr lang="zh-CN" altLang="en-US" b="1">
              <a:latin typeface="Arial" panose="020B0604020202020204" pitchFamily="34" charset="0"/>
              <a:ea typeface="宋体" panose="02010600030101010101" pitchFamily="2" charset="-122"/>
            </a:endParaRPr>
          </a:p>
          <a:p>
            <a:endParaRPr lang="zh-CN" altLang="en-US" b="1">
              <a:latin typeface="Arial" panose="020B0604020202020204" pitchFamily="34" charset="0"/>
              <a:ea typeface="宋体" panose="02010600030101010101" pitchFamily="2" charset="-122"/>
            </a:endParaRPr>
          </a:p>
          <a:p>
            <a:r>
              <a:rPr lang="zh-CN" altLang="en-US" b="1">
                <a:latin typeface="Arial" panose="020B0604020202020204" pitchFamily="34" charset="0"/>
                <a:ea typeface="宋体" panose="02010600030101010101" pitchFamily="2" charset="-122"/>
              </a:rPr>
              <a:t>通过该实验课程的学习培养学生掌握以下能力：</a:t>
            </a:r>
            <a:endParaRPr lang="zh-CN" altLang="en-US" b="1">
              <a:latin typeface="Arial" panose="020B0604020202020204" pitchFamily="34" charset="0"/>
              <a:ea typeface="宋体" panose="02010600030101010101" pitchFamily="2" charset="-122"/>
            </a:endParaRPr>
          </a:p>
          <a:p>
            <a:endParaRPr lang="zh-CN" altLang="en-US" b="1">
              <a:latin typeface="Arial" panose="020B0604020202020204" pitchFamily="34" charset="0"/>
              <a:ea typeface="宋体" panose="02010600030101010101" pitchFamily="2" charset="-122"/>
            </a:endParaRPr>
          </a:p>
          <a:p>
            <a:r>
              <a:rPr lang="zh-CN" altLang="en-US" b="1">
                <a:latin typeface="Arial" panose="020B0604020202020204" pitchFamily="34" charset="0"/>
                <a:ea typeface="宋体" panose="02010600030101010101" pitchFamily="2" charset="-122"/>
              </a:rPr>
              <a:t>（1）使用 </a:t>
            </a:r>
            <a:r>
              <a:rPr lang="en-US" altLang="zh-CN" b="1">
                <a:latin typeface="Arial" panose="020B0604020202020204" pitchFamily="34" charset="0"/>
                <a:ea typeface="宋体" panose="02010600030101010101" pitchFamily="2" charset="-122"/>
              </a:rPr>
              <a:t>MWORKS</a:t>
            </a:r>
            <a:r>
              <a:rPr lang="zh-CN" altLang="en-US" b="1">
                <a:latin typeface="Arial" panose="020B0604020202020204" pitchFamily="34" charset="0"/>
                <a:ea typeface="宋体" panose="02010600030101010101" pitchFamily="2" charset="-122"/>
              </a:rPr>
              <a:t> 进行基本的数字信号与系统分析</a:t>
            </a:r>
            <a:endParaRPr lang="zh-CN" altLang="en-US" b="1">
              <a:latin typeface="Arial" panose="020B0604020202020204" pitchFamily="34" charset="0"/>
              <a:ea typeface="宋体" panose="02010600030101010101" pitchFamily="2" charset="-122"/>
            </a:endParaRPr>
          </a:p>
          <a:p>
            <a:endParaRPr lang="zh-CN" altLang="en-US" b="1">
              <a:latin typeface="Arial" panose="020B0604020202020204" pitchFamily="34" charset="0"/>
              <a:ea typeface="宋体" panose="02010600030101010101" pitchFamily="2" charset="-122"/>
            </a:endParaRPr>
          </a:p>
          <a:p>
            <a:r>
              <a:rPr lang="zh-CN" altLang="en-US" b="1">
                <a:latin typeface="Arial" panose="020B0604020202020204" pitchFamily="34" charset="0"/>
                <a:ea typeface="宋体" panose="02010600030101010101" pitchFamily="2" charset="-122"/>
              </a:rPr>
              <a:t>（2）利用频域分析进行实际数字信号处理问题分析的能力，并能够使用</a:t>
            </a:r>
            <a:r>
              <a:rPr lang="en-US" altLang="zh-CN" b="1">
                <a:sym typeface="+mn-ea"/>
              </a:rPr>
              <a:t>MWORKS</a:t>
            </a:r>
            <a:r>
              <a:rPr lang="zh-CN" altLang="en-US" b="1">
                <a:latin typeface="Arial" panose="020B0604020202020204" pitchFamily="34" charset="0"/>
                <a:ea typeface="宋体" panose="02010600030101010101" pitchFamily="2" charset="-122"/>
              </a:rPr>
              <a:t> 实现相应算法</a:t>
            </a:r>
            <a:endParaRPr lang="zh-CN" altLang="en-US" b="1">
              <a:latin typeface="Arial" panose="020B0604020202020204" pitchFamily="34" charset="0"/>
              <a:ea typeface="宋体" panose="02010600030101010101" pitchFamily="2" charset="-122"/>
            </a:endParaRPr>
          </a:p>
          <a:p>
            <a:endParaRPr lang="zh-CN" altLang="en-US" b="1">
              <a:latin typeface="Arial" panose="020B0604020202020204" pitchFamily="34" charset="0"/>
              <a:ea typeface="宋体" panose="02010600030101010101" pitchFamily="2" charset="-122"/>
            </a:endParaRPr>
          </a:p>
          <a:p>
            <a:r>
              <a:rPr lang="zh-CN" altLang="en-US" b="1">
                <a:latin typeface="Arial" panose="020B0604020202020204" pitchFamily="34" charset="0"/>
                <a:ea typeface="宋体" panose="02010600030101010101" pitchFamily="2" charset="-122"/>
              </a:rPr>
              <a:t>（3）数字滤波器的设计及其在实际中的应用</a:t>
            </a:r>
            <a:endParaRPr lang="zh-CN" altLang="en-US" b="1">
              <a:latin typeface="Arial" panose="020B0604020202020204" pitchFamily="34" charset="0"/>
              <a:ea typeface="宋体" panose="02010600030101010101" pitchFamily="2" charset="-122"/>
            </a:endParaRPr>
          </a:p>
          <a:p>
            <a:endParaRPr lang="zh-CN" altLang="en-US" b="1">
              <a:latin typeface="Arial" panose="020B0604020202020204" pitchFamily="34" charset="0"/>
              <a:ea typeface="宋体" panose="02010600030101010101" pitchFamily="2" charset="-122"/>
            </a:endParaRPr>
          </a:p>
          <a:p>
            <a:r>
              <a:rPr lang="zh-CN" altLang="en-US" b="1">
                <a:latin typeface="Arial" panose="020B0604020202020204" pitchFamily="34" charset="0"/>
                <a:ea typeface="宋体" panose="02010600030101010101" pitchFamily="2" charset="-122"/>
              </a:rPr>
              <a:t>（4）使用数字信号处理对实际信号进行处理的实践能力</a:t>
            </a:r>
            <a:endParaRPr lang="zh-CN" altLang="en-US" b="1">
              <a:latin typeface="Arial" panose="020B0604020202020204" pitchFamily="34" charset="0"/>
              <a:ea typeface="宋体" panose="02010600030101010101" pitchFamily="2" charset="-122"/>
            </a:endParaRPr>
          </a:p>
        </p:txBody>
      </p:sp>
      <p:sp>
        <p:nvSpPr>
          <p:cNvPr id="4098" name="文本框 1"/>
          <p:cNvSpPr txBox="1"/>
          <p:nvPr/>
        </p:nvSpPr>
        <p:spPr>
          <a:xfrm>
            <a:off x="9418638" y="3695700"/>
            <a:ext cx="309562" cy="460375"/>
          </a:xfrm>
          <a:prstGeom prst="rect">
            <a:avLst/>
          </a:prstGeom>
          <a:noFill/>
          <a:ln w="9525">
            <a:noFill/>
          </a:ln>
        </p:spPr>
        <p:txBody>
          <a:bodyPr wrap="none" anchor="t" anchorCtr="0">
            <a:spAutoFit/>
          </a:bodyPr>
          <a:p>
            <a:endParaRPr lang="zh-CN" altLang="en-US">
              <a:latin typeface="Arial" panose="020B0604020202020204" pitchFamily="34"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99"/>
          <p:cNvSpPr txBox="1"/>
          <p:nvPr/>
        </p:nvSpPr>
        <p:spPr>
          <a:xfrm>
            <a:off x="395288" y="620713"/>
            <a:ext cx="8421687" cy="6000750"/>
          </a:xfrm>
          <a:prstGeom prst="rect">
            <a:avLst/>
          </a:prstGeom>
          <a:noFill/>
          <a:ln w="9525">
            <a:noFill/>
          </a:ln>
        </p:spPr>
        <p:txBody>
          <a:bodyPr wrap="square" anchor="t" anchorCtr="0">
            <a:spAutoFit/>
          </a:bodyPr>
          <a:p>
            <a:r>
              <a:rPr lang="zh-CN" altLang="en-US" b="1">
                <a:latin typeface="Arial" panose="020B0604020202020204" pitchFamily="34" charset="0"/>
                <a:ea typeface="宋体" panose="02010600030101010101" pitchFamily="2" charset="-122"/>
              </a:rPr>
              <a:t>实验课时间：</a:t>
            </a:r>
            <a:endParaRPr lang="zh-CN" altLang="en-US" b="1">
              <a:latin typeface="Arial" panose="020B0604020202020204" pitchFamily="34" charset="0"/>
              <a:ea typeface="宋体" panose="02010600030101010101" pitchFamily="2" charset="-122"/>
            </a:endParaRPr>
          </a:p>
          <a:p>
            <a:endParaRPr lang="zh-CN" altLang="en-US" b="1">
              <a:latin typeface="Arial" panose="020B0604020202020204" pitchFamily="34" charset="0"/>
              <a:ea typeface="宋体" panose="02010600030101010101" pitchFamily="2" charset="-122"/>
            </a:endParaRPr>
          </a:p>
          <a:p>
            <a:r>
              <a:rPr lang="en-US" altLang="zh-CN" b="1">
                <a:latin typeface="Arial" panose="020B0604020202020204" pitchFamily="34" charset="0"/>
                <a:ea typeface="宋体" panose="02010600030101010101" pitchFamily="2" charset="-122"/>
              </a:rPr>
              <a:t>      </a:t>
            </a:r>
            <a:r>
              <a:rPr lang="zh-CN" altLang="en-US" b="1">
                <a:latin typeface="Arial" panose="020B0604020202020204" pitchFamily="34" charset="0"/>
                <a:ea typeface="宋体" panose="02010600030101010101" pitchFamily="2" charset="-122"/>
              </a:rPr>
              <a:t>第十六周</a:t>
            </a:r>
            <a:r>
              <a:rPr lang="en-US" altLang="zh-CN" b="1">
                <a:latin typeface="Arial" panose="020B0604020202020204" pitchFamily="34" charset="0"/>
                <a:ea typeface="宋体" panose="02010600030101010101" pitchFamily="2" charset="-122"/>
              </a:rPr>
              <a:t>-</a:t>
            </a:r>
            <a:r>
              <a:rPr lang="zh-CN" altLang="en-US" b="1">
                <a:latin typeface="Arial" panose="020B0604020202020204" pitchFamily="34" charset="0"/>
                <a:ea typeface="宋体" panose="02010600030101010101" pitchFamily="2" charset="-122"/>
              </a:rPr>
              <a:t>第十七周，周二、周四，上午</a:t>
            </a:r>
            <a:r>
              <a:rPr lang="en-US" altLang="zh-CN" b="1">
                <a:latin typeface="Arial" panose="020B0604020202020204" pitchFamily="34" charset="0"/>
                <a:ea typeface="宋体" panose="02010600030101010101" pitchFamily="2" charset="-122"/>
              </a:rPr>
              <a:t>,  </a:t>
            </a:r>
            <a:r>
              <a:rPr lang="zh-CN" altLang="en-US" b="1">
                <a:latin typeface="Arial" panose="020B0604020202020204" pitchFamily="34" charset="0"/>
                <a:ea typeface="宋体" panose="02010600030101010101" pitchFamily="2" charset="-122"/>
              </a:rPr>
              <a:t>线下，实验大楼</a:t>
            </a:r>
            <a:r>
              <a:rPr lang="en-US" altLang="zh-CN" b="1">
                <a:latin typeface="Arial" panose="020B0604020202020204" pitchFamily="34" charset="0"/>
                <a:ea typeface="宋体" panose="02010600030101010101" pitchFamily="2" charset="-122"/>
              </a:rPr>
              <a:t>B209</a:t>
            </a:r>
            <a:r>
              <a:rPr lang="zh-CN" altLang="en-US" b="1">
                <a:latin typeface="Arial" panose="020B0604020202020204" pitchFamily="34" charset="0"/>
                <a:ea typeface="宋体" panose="02010600030101010101" pitchFamily="2" charset="-122"/>
              </a:rPr>
              <a:t>。</a:t>
            </a:r>
            <a:endParaRPr lang="zh-CN" altLang="en-US" b="1">
              <a:latin typeface="Arial" panose="020B0604020202020204" pitchFamily="34" charset="0"/>
              <a:ea typeface="宋体" panose="02010600030101010101" pitchFamily="2" charset="-122"/>
            </a:endParaRPr>
          </a:p>
          <a:p>
            <a:endParaRPr lang="zh-CN" altLang="en-US" b="1">
              <a:latin typeface="Arial" panose="020B0604020202020204" pitchFamily="34" charset="0"/>
              <a:ea typeface="宋体" panose="02010600030101010101" pitchFamily="2" charset="-122"/>
            </a:endParaRPr>
          </a:p>
          <a:p>
            <a:r>
              <a:rPr lang="zh-CN" altLang="en-US" b="1">
                <a:latin typeface="Arial" panose="020B0604020202020204" pitchFamily="34" charset="0"/>
                <a:ea typeface="宋体" panose="02010600030101010101" pitchFamily="2" charset="-122"/>
              </a:rPr>
              <a:t>实验平台：</a:t>
            </a:r>
            <a:r>
              <a:rPr lang="en-US" altLang="zh-CN" b="1">
                <a:sym typeface="+mn-ea"/>
              </a:rPr>
              <a:t>MWORKS</a:t>
            </a:r>
            <a:r>
              <a:rPr lang="zh-CN" altLang="en-US" b="1">
                <a:latin typeface="Arial" panose="020B0604020202020204" pitchFamily="34" charset="0"/>
                <a:ea typeface="宋体" panose="02010600030101010101" pitchFamily="2" charset="-122"/>
              </a:rPr>
              <a:t>仿真软件</a:t>
            </a:r>
            <a:endParaRPr lang="zh-CN" altLang="en-US" b="1">
              <a:latin typeface="Arial" panose="020B0604020202020204" pitchFamily="34" charset="0"/>
              <a:ea typeface="宋体" panose="02010600030101010101" pitchFamily="2" charset="-122"/>
            </a:endParaRPr>
          </a:p>
          <a:p>
            <a:r>
              <a:rPr lang="zh-CN" altLang="en-US" b="1">
                <a:latin typeface="Arial" panose="020B0604020202020204" pitchFamily="34" charset="0"/>
                <a:ea typeface="宋体" panose="02010600030101010101" pitchFamily="2" charset="-122"/>
              </a:rPr>
              <a:t>实验内容：</a:t>
            </a:r>
            <a:endParaRPr lang="zh-CN" altLang="en-US" b="1">
              <a:latin typeface="Arial" panose="020B0604020202020204" pitchFamily="34" charset="0"/>
              <a:ea typeface="宋体" panose="02010600030101010101" pitchFamily="2" charset="-122"/>
            </a:endParaRPr>
          </a:p>
          <a:p>
            <a:endParaRPr lang="zh-CN" altLang="en-US" b="1">
              <a:latin typeface="Arial" panose="020B0604020202020204" pitchFamily="34" charset="0"/>
              <a:ea typeface="宋体" panose="02010600030101010101" pitchFamily="2" charset="-122"/>
            </a:endParaRPr>
          </a:p>
          <a:p>
            <a:r>
              <a:rPr lang="zh-CN" altLang="en-US" b="1">
                <a:latin typeface="Arial" panose="020B0604020202020204" pitchFamily="34" charset="0"/>
                <a:ea typeface="宋体" panose="02010600030101010101" pitchFamily="2" charset="-122"/>
              </a:rPr>
              <a:t>第一部分 数字信号与系统的时域分析方法（共 4 学时）</a:t>
            </a:r>
            <a:endParaRPr lang="zh-CN" altLang="en-US" b="1">
              <a:latin typeface="Arial" panose="020B0604020202020204" pitchFamily="34" charset="0"/>
              <a:ea typeface="宋体" panose="02010600030101010101" pitchFamily="2" charset="-122"/>
            </a:endParaRPr>
          </a:p>
          <a:p>
            <a:endParaRPr lang="zh-CN" altLang="en-US" b="1">
              <a:latin typeface="Arial" panose="020B0604020202020204" pitchFamily="34" charset="0"/>
              <a:ea typeface="宋体" panose="02010600030101010101" pitchFamily="2" charset="-122"/>
            </a:endParaRPr>
          </a:p>
          <a:p>
            <a:r>
              <a:rPr lang="zh-CN" altLang="en-US" b="1">
                <a:latin typeface="Arial" panose="020B0604020202020204" pitchFamily="34" charset="0"/>
                <a:ea typeface="宋体" panose="02010600030101010101" pitchFamily="2" charset="-122"/>
              </a:rPr>
              <a:t>第二部分 基于FFT的频域分析（共 4 学时）</a:t>
            </a:r>
            <a:endParaRPr lang="zh-CN" altLang="en-US" b="1">
              <a:latin typeface="Arial" panose="020B0604020202020204" pitchFamily="34" charset="0"/>
              <a:ea typeface="宋体" panose="02010600030101010101" pitchFamily="2" charset="-122"/>
            </a:endParaRPr>
          </a:p>
          <a:p>
            <a:endParaRPr lang="zh-CN" altLang="en-US" b="1">
              <a:latin typeface="Arial" panose="020B0604020202020204" pitchFamily="34" charset="0"/>
              <a:ea typeface="宋体" panose="02010600030101010101" pitchFamily="2" charset="-122"/>
            </a:endParaRPr>
          </a:p>
          <a:p>
            <a:r>
              <a:rPr lang="zh-CN" altLang="en-US" b="1">
                <a:latin typeface="Arial" panose="020B0604020202020204" pitchFamily="34" charset="0"/>
                <a:ea typeface="宋体" panose="02010600030101010101" pitchFamily="2" charset="-122"/>
              </a:rPr>
              <a:t>第三部分 IIR滤波器设计与应用（共 4 学时）</a:t>
            </a:r>
            <a:endParaRPr lang="zh-CN" altLang="en-US" b="1">
              <a:latin typeface="Arial" panose="020B0604020202020204" pitchFamily="34" charset="0"/>
              <a:ea typeface="宋体" panose="02010600030101010101" pitchFamily="2" charset="-122"/>
            </a:endParaRPr>
          </a:p>
          <a:p>
            <a:endParaRPr lang="zh-CN" altLang="en-US" b="1">
              <a:latin typeface="Arial" panose="020B0604020202020204" pitchFamily="34" charset="0"/>
              <a:ea typeface="宋体" panose="02010600030101010101" pitchFamily="2" charset="-122"/>
            </a:endParaRPr>
          </a:p>
          <a:p>
            <a:r>
              <a:rPr lang="zh-CN" altLang="en-US" b="1">
                <a:latin typeface="Arial" panose="020B0604020202020204" pitchFamily="34" charset="0"/>
                <a:ea typeface="宋体" panose="02010600030101010101" pitchFamily="2" charset="-122"/>
              </a:rPr>
              <a:t>第四部分 FIR滤波器设计与应用（共 4 学时）</a:t>
            </a:r>
            <a:endParaRPr lang="zh-CN" altLang="en-US" b="1">
              <a:latin typeface="Arial" panose="020B0604020202020204" pitchFamily="34" charset="0"/>
              <a:ea typeface="宋体" panose="02010600030101010101" pitchFamily="2" charset="-122"/>
            </a:endParaRPr>
          </a:p>
          <a:p>
            <a:endParaRPr lang="zh-CN" altLang="en-US" b="1">
              <a:latin typeface="Arial" panose="020B0604020202020204" pitchFamily="34" charset="0"/>
              <a:ea typeface="宋体" panose="02010600030101010101" pitchFamily="2" charset="-122"/>
            </a:endParaRPr>
          </a:p>
        </p:txBody>
      </p:sp>
      <p:sp>
        <p:nvSpPr>
          <p:cNvPr id="5122" name="文本框 1"/>
          <p:cNvSpPr txBox="1"/>
          <p:nvPr/>
        </p:nvSpPr>
        <p:spPr>
          <a:xfrm>
            <a:off x="9418638" y="3695700"/>
            <a:ext cx="309562" cy="460375"/>
          </a:xfrm>
          <a:prstGeom prst="rect">
            <a:avLst/>
          </a:prstGeom>
          <a:noFill/>
          <a:ln w="9525">
            <a:noFill/>
          </a:ln>
        </p:spPr>
        <p:txBody>
          <a:bodyPr wrap="none" anchor="t" anchorCtr="0">
            <a:spAutoFit/>
          </a:bodyPr>
          <a:p>
            <a:endParaRPr lang="zh-CN" altLang="en-US">
              <a:latin typeface="Arial" panose="020B0604020202020204" pitchFamily="34"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9070" y="980440"/>
            <a:ext cx="8642985" cy="44811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99"/>
          <p:cNvSpPr txBox="1"/>
          <p:nvPr/>
        </p:nvSpPr>
        <p:spPr>
          <a:xfrm>
            <a:off x="323533" y="5373053"/>
            <a:ext cx="8421687" cy="829945"/>
          </a:xfrm>
          <a:prstGeom prst="rect">
            <a:avLst/>
          </a:prstGeom>
          <a:noFill/>
          <a:ln w="9525">
            <a:noFill/>
          </a:ln>
        </p:spPr>
        <p:txBody>
          <a:bodyPr wrap="square" anchor="t" anchorCtr="0">
            <a:spAutoFit/>
          </a:bodyPr>
          <a:p>
            <a:r>
              <a:rPr lang="zh-CN" altLang="en-US" b="1">
                <a:latin typeface="Arial" panose="020B0604020202020204" pitchFamily="34" charset="0"/>
                <a:ea typeface="宋体" panose="02010600030101010101" pitchFamily="2" charset="-122"/>
              </a:rPr>
              <a:t>考核形式：提交实验报告（学期末）</a:t>
            </a:r>
            <a:endParaRPr lang="zh-CN" altLang="en-US" b="1">
              <a:latin typeface="Arial" panose="020B0604020202020204" pitchFamily="34" charset="0"/>
              <a:ea typeface="宋体" panose="02010600030101010101" pitchFamily="2" charset="-122"/>
            </a:endParaRPr>
          </a:p>
          <a:p>
            <a:r>
              <a:rPr lang="zh-CN" altLang="en-US" b="1">
                <a:latin typeface="Arial" panose="020B0604020202020204" pitchFamily="34" charset="0"/>
                <a:ea typeface="宋体" panose="02010600030101010101" pitchFamily="2" charset="-122"/>
              </a:rPr>
              <a:t>实验报告撰写要求最后一次课会详细说明</a:t>
            </a:r>
            <a:endParaRPr lang="zh-CN" altLang="en-US" b="1">
              <a:latin typeface="Arial" panose="020B0604020202020204" pitchFamily="34" charset="0"/>
              <a:ea typeface="宋体" panose="02010600030101010101" pitchFamily="2" charset="-122"/>
            </a:endParaRPr>
          </a:p>
        </p:txBody>
      </p:sp>
      <p:sp>
        <p:nvSpPr>
          <p:cNvPr id="6146" name="文本框 1"/>
          <p:cNvSpPr txBox="1"/>
          <p:nvPr/>
        </p:nvSpPr>
        <p:spPr>
          <a:xfrm>
            <a:off x="9418638" y="3695700"/>
            <a:ext cx="309562" cy="460375"/>
          </a:xfrm>
          <a:prstGeom prst="rect">
            <a:avLst/>
          </a:prstGeom>
          <a:noFill/>
          <a:ln w="9525">
            <a:noFill/>
          </a:ln>
        </p:spPr>
        <p:txBody>
          <a:bodyPr wrap="none" anchor="t" anchorCtr="0">
            <a:spAutoFit/>
          </a:bodyPr>
          <a:p>
            <a:endParaRPr lang="zh-CN" altLang="en-US">
              <a:latin typeface="Arial" panose="020B0604020202020204" pitchFamily="34"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107315" y="836295"/>
            <a:ext cx="8696325" cy="35883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文本框 568326"/>
          <p:cNvSpPr txBox="1"/>
          <p:nvPr/>
        </p:nvSpPr>
        <p:spPr>
          <a:xfrm>
            <a:off x="1331913" y="908050"/>
            <a:ext cx="7058025" cy="4154488"/>
          </a:xfrm>
          <a:prstGeom prst="rect">
            <a:avLst/>
          </a:prstGeom>
          <a:noFill/>
          <a:ln w="9525">
            <a:noFill/>
          </a:ln>
        </p:spPr>
        <p:txBody>
          <a:bodyPr anchor="t" anchorCtr="0">
            <a:spAutoFit/>
          </a:bodyPr>
          <a:p>
            <a:pPr algn="ctr">
              <a:lnSpc>
                <a:spcPct val="150000"/>
              </a:lnSpc>
            </a:pPr>
            <a:r>
              <a:rPr lang="zh-CN" altLang="en-US" sz="3200" b="1" dirty="0">
                <a:latin typeface="Times New Roman" panose="02020603050405020304" pitchFamily="18" charset="0"/>
                <a:ea typeface="宋体" panose="02010600030101010101" pitchFamily="2" charset="-122"/>
              </a:rPr>
              <a:t>演示实验：系统响应</a:t>
            </a:r>
            <a:endParaRPr lang="zh-CN" altLang="en-US" sz="3200" b="1" dirty="0">
              <a:latin typeface="Times New Roman" panose="02020603050405020304" pitchFamily="18" charset="0"/>
              <a:ea typeface="宋体" panose="02010600030101010101" pitchFamily="2" charset="-122"/>
            </a:endParaRPr>
          </a:p>
          <a:p>
            <a:pPr>
              <a:lnSpc>
                <a:spcPct val="150000"/>
              </a:lnSpc>
            </a:pP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nSpc>
                <a:spcPct val="150000"/>
              </a:lnSpc>
            </a:pPr>
            <a:r>
              <a:rPr lang="zh-CN" altLang="en-US"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1. </a:t>
            </a:r>
            <a:r>
              <a:rPr lang="zh-CN" altLang="en-US" b="1" dirty="0">
                <a:latin typeface="Times New Roman" panose="02020603050405020304" pitchFamily="18" charset="0"/>
                <a:ea typeface="宋体" panose="02010600030101010101" pitchFamily="2" charset="-122"/>
              </a:rPr>
              <a:t>实验目的</a:t>
            </a:r>
            <a:endParaRPr lang="zh-CN" altLang="en-US" b="1" dirty="0">
              <a:latin typeface="Times New Roman" panose="02020603050405020304" pitchFamily="18" charset="0"/>
              <a:ea typeface="宋体" panose="02010600030101010101" pitchFamily="2" charset="-122"/>
            </a:endParaRPr>
          </a:p>
          <a:p>
            <a:pPr>
              <a:lnSpc>
                <a:spcPct val="150000"/>
              </a:lnSpc>
            </a:pPr>
            <a:endParaRPr lang="zh-CN" altLang="en-US" dirty="0">
              <a:latin typeface="Times New Roman" panose="02020603050405020304" pitchFamily="18" charset="0"/>
              <a:ea typeface="宋体" panose="02010600030101010101" pitchFamily="2" charset="-122"/>
            </a:endParaRPr>
          </a:p>
          <a:p>
            <a:pPr>
              <a:lnSpc>
                <a:spcPct val="15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掌握求系统响应的方法。</a:t>
            </a:r>
            <a:endParaRPr lang="zh-CN" altLang="en-US" dirty="0">
              <a:latin typeface="Times New Roman" panose="02020603050405020304" pitchFamily="18" charset="0"/>
              <a:ea typeface="宋体" panose="02010600030101010101" pitchFamily="2" charset="-122"/>
            </a:endParaRPr>
          </a:p>
          <a:p>
            <a:pPr>
              <a:lnSpc>
                <a:spcPct val="15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掌握时域离散系统的时域特性。</a:t>
            </a:r>
            <a:endParaRPr lang="zh-CN" altLang="en-US" dirty="0">
              <a:latin typeface="Times New Roman" panose="02020603050405020304" pitchFamily="18" charset="0"/>
              <a:ea typeface="宋体" panose="02010600030101010101" pitchFamily="2" charset="-122"/>
            </a:endParaRPr>
          </a:p>
          <a:p>
            <a:pPr>
              <a:lnSpc>
                <a:spcPct val="150000"/>
              </a:lnSpc>
            </a:pP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文本框 729089"/>
          <p:cNvSpPr txBox="1"/>
          <p:nvPr/>
        </p:nvSpPr>
        <p:spPr>
          <a:xfrm>
            <a:off x="539750" y="692150"/>
            <a:ext cx="7993063" cy="5846445"/>
          </a:xfrm>
          <a:prstGeom prst="rect">
            <a:avLst/>
          </a:prstGeom>
          <a:noFill/>
          <a:ln w="9525">
            <a:noFill/>
          </a:ln>
        </p:spPr>
        <p:txBody>
          <a:bodyPr anchor="t" anchorCtr="0">
            <a:spAutoFit/>
          </a:bodyPr>
          <a:p>
            <a:pPr>
              <a:lnSpc>
                <a:spcPct val="130000"/>
              </a:lnSpc>
            </a:pPr>
            <a:r>
              <a:rPr lang="zh-CN" altLang="en-US"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2. </a:t>
            </a:r>
            <a:r>
              <a:rPr lang="zh-CN" altLang="en-US" b="1" dirty="0">
                <a:latin typeface="Times New Roman" panose="02020603050405020304" pitchFamily="18" charset="0"/>
                <a:ea typeface="宋体" panose="02010600030101010101" pitchFamily="2" charset="-122"/>
              </a:rPr>
              <a:t>实验原理与方法</a:t>
            </a:r>
            <a:endParaRPr lang="zh-CN" altLang="en-US" b="1"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在时域中，描写系统特性的方法是差分方程和单位脉冲响应，在频域可以用系统函数描述系统特性。已知输入信号</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可以由差分方程、单位脉冲响应或系统函数求出系统对于该输入信号的响应，本实验仅在时域求解。</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在计算机上适合用递推法求差分方程的解，最简单的方法是采用</a:t>
            </a:r>
            <a:r>
              <a:rPr lang="en-US" altLang="zh-CN"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语言的工具箱函数</a:t>
            </a:r>
            <a:r>
              <a:rPr lang="en-US" altLang="zh-CN" dirty="0">
                <a:latin typeface="Times New Roman" panose="02020603050405020304" pitchFamily="18" charset="0"/>
                <a:ea typeface="宋体" panose="02010600030101010101" pitchFamily="2" charset="-122"/>
              </a:rPr>
              <a:t>filter</a:t>
            </a:r>
            <a:r>
              <a:rPr lang="zh-CN" altLang="en-US" dirty="0">
                <a:latin typeface="Times New Roman" panose="02020603050405020304" pitchFamily="18" charset="0"/>
                <a:ea typeface="宋体" panose="02010600030101010101" pitchFamily="2" charset="-122"/>
              </a:rPr>
              <a:t>函数。也可以用</a:t>
            </a:r>
            <a:r>
              <a:rPr lang="en-US" altLang="zh-CN"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语言的工具箱函数</a:t>
            </a:r>
            <a:r>
              <a:rPr lang="en-US" altLang="zh-CN" dirty="0">
                <a:latin typeface="Times New Roman" panose="02020603050405020304" pitchFamily="18" charset="0"/>
                <a:ea typeface="宋体" panose="02010600030101010101" pitchFamily="2" charset="-122"/>
              </a:rPr>
              <a:t>conv</a:t>
            </a:r>
            <a:r>
              <a:rPr lang="zh-CN" altLang="en-US" dirty="0">
                <a:latin typeface="Times New Roman" panose="02020603050405020304" pitchFamily="18" charset="0"/>
                <a:ea typeface="宋体" panose="02010600030101010101" pitchFamily="2" charset="-122"/>
              </a:rPr>
              <a:t>函数计算输入信号和系统的单位脉冲响应的线性卷积，求出系统的响应。</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文本框 728065"/>
          <p:cNvSpPr txBox="1"/>
          <p:nvPr/>
        </p:nvSpPr>
        <p:spPr>
          <a:xfrm>
            <a:off x="395288" y="981075"/>
            <a:ext cx="7993062" cy="6805613"/>
          </a:xfrm>
          <a:prstGeom prst="rect">
            <a:avLst/>
          </a:prstGeom>
          <a:noFill/>
          <a:ln w="9525">
            <a:noFill/>
          </a:ln>
        </p:spPr>
        <p:txBody>
          <a:bodyPr anchor="t" anchorCtr="0">
            <a:spAutoFit/>
          </a:bodyPr>
          <a:p>
            <a:pPr>
              <a:lnSpc>
                <a:spcPct val="130000"/>
              </a:lnSpc>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系统的时域特性：系统的线性时不变性质、因果性和稳定性</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系统的线性时不变特性：系统输入与输出关系不随时间变化而变化，或者说系统对输入信号的响应与加于系统的时间无关，则为时不变系统。</a:t>
            </a:r>
            <a:endParaRPr lang="zh-CN" altLang="en-US" dirty="0">
              <a:latin typeface="Times New Roman" panose="02020603050405020304" pitchFamily="18" charset="0"/>
              <a:ea typeface="宋体" panose="02010600030101010101" pitchFamily="2" charset="-122"/>
            </a:endParaRPr>
          </a:p>
          <a:p>
            <a:pPr>
              <a:lnSpc>
                <a:spcPct val="130000"/>
              </a:lnSpc>
            </a:pPr>
            <a:endParaRPr lang="en-US" altLang="zh-CN" dirty="0">
              <a:latin typeface="Times New Roman" panose="02020603050405020304" pitchFamily="18" charset="0"/>
              <a:ea typeface="宋体" panose="02010600030101010101" pitchFamily="2" charset="-122"/>
            </a:endParaRPr>
          </a:p>
          <a:p>
            <a:pPr>
              <a:lnSpc>
                <a:spcPct val="130000"/>
              </a:lnSpc>
            </a:pPr>
            <a:r>
              <a:rPr lang="en-US" altLang="zh-CN" dirty="0">
                <a:latin typeface="Times New Roman" panose="02020603050405020304" pitchFamily="18" charset="0"/>
                <a:ea typeface="宋体" panose="02010600030101010101" pitchFamily="2" charset="-122"/>
              </a:rPr>
              <a:t>                                       y(n-k) = T[x(n-k)]</a:t>
            </a:r>
            <a:endParaRPr lang="en-US" altLang="zh-CN" dirty="0">
              <a:latin typeface="Times New Roman" panose="02020603050405020304" pitchFamily="18" charset="0"/>
              <a:ea typeface="宋体" panose="02010600030101010101" pitchFamily="2" charset="-122"/>
            </a:endParaRPr>
          </a:p>
          <a:p>
            <a:pPr>
              <a:lnSpc>
                <a:spcPct val="130000"/>
              </a:lnSpc>
            </a:pPr>
            <a:endParaRPr lang="en-US" altLang="zh-CN"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nSpc>
                <a:spcPct val="130000"/>
              </a:lnSpc>
            </a:pP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pic>
        <p:nvPicPr>
          <p:cNvPr id="9218" name="图片 1"/>
          <p:cNvPicPr>
            <a:picLocks noChangeAspect="1"/>
          </p:cNvPicPr>
          <p:nvPr>
            <p:custDataLst>
              <p:tags r:id="rId1"/>
            </p:custDataLst>
          </p:nvPr>
        </p:nvPicPr>
        <p:blipFill>
          <a:blip r:embed="rId2"/>
          <a:stretch>
            <a:fillRect/>
          </a:stretch>
        </p:blipFill>
        <p:spPr>
          <a:xfrm>
            <a:off x="1979613" y="1917700"/>
            <a:ext cx="5689600" cy="136525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文本框 728065"/>
          <p:cNvSpPr txBox="1"/>
          <p:nvPr/>
        </p:nvSpPr>
        <p:spPr>
          <a:xfrm>
            <a:off x="322263" y="692150"/>
            <a:ext cx="7993062" cy="5367338"/>
          </a:xfrm>
          <a:prstGeom prst="rect">
            <a:avLst/>
          </a:prstGeom>
          <a:noFill/>
          <a:ln w="9525">
            <a:noFill/>
          </a:ln>
        </p:spPr>
        <p:txBody>
          <a:bodyPr anchor="t" anchorCtr="0">
            <a:spAutoFit/>
          </a:bodyPr>
          <a:p>
            <a:pPr>
              <a:lnSpc>
                <a:spcPct val="130000"/>
              </a:lnSpc>
            </a:pP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系统的因果性：系统</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时刻的输出，只取决于</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时刻以及</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时刻以前的输入序列，而与</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时刻以后的输入无关。因果系统的单位冲激响应必然是因果序列。</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线性时不变</a:t>
            </a:r>
            <a:r>
              <a:rPr lang="en-US" altLang="zh-CN" dirty="0">
                <a:latin typeface="Times New Roman" panose="02020603050405020304" pitchFamily="18" charset="0"/>
                <a:ea typeface="宋体" panose="02010600030101010101" pitchFamily="2" charset="-122"/>
              </a:rPr>
              <a:t>(LTI)</a:t>
            </a:r>
            <a:r>
              <a:rPr lang="zh-CN" altLang="en-US" dirty="0">
                <a:latin typeface="Times New Roman" panose="02020603050405020304" pitchFamily="18" charset="0"/>
                <a:ea typeface="宋体" panose="02010600030101010101" pitchFamily="2" charset="-122"/>
              </a:rPr>
              <a:t>系统是因果系统的充要条件：</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h(n)=0,  n&lt;0        </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实际系统一般都是因果系统。</a:t>
            </a:r>
            <a:endParaRPr lang="zh-CN" altLang="en-US" dirty="0">
              <a:latin typeface="Times New Roman" panose="02020603050405020304" pitchFamily="18" charset="0"/>
              <a:ea typeface="宋体" panose="02010600030101010101" pitchFamily="2" charset="-122"/>
            </a:endParaRPr>
          </a:p>
          <a:p>
            <a:pPr>
              <a:lnSpc>
                <a:spcPct val="130000"/>
              </a:lnSpc>
            </a:pP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文本框 728065"/>
          <p:cNvSpPr txBox="1"/>
          <p:nvPr/>
        </p:nvSpPr>
        <p:spPr>
          <a:xfrm>
            <a:off x="466725" y="784225"/>
            <a:ext cx="8369300" cy="5491163"/>
          </a:xfrm>
          <a:prstGeom prst="rect">
            <a:avLst/>
          </a:prstGeom>
          <a:noFill/>
          <a:ln w="9525">
            <a:noFill/>
          </a:ln>
        </p:spPr>
        <p:txBody>
          <a:bodyPr anchor="t" anchorCtr="0"/>
          <a:p>
            <a:pPr>
              <a:lnSpc>
                <a:spcPct val="130000"/>
              </a:lnSpc>
            </a:pPr>
            <a:r>
              <a:rPr lang="zh-CN" altLang="en-US" dirty="0">
                <a:latin typeface="Times New Roman" panose="02020603050405020304" pitchFamily="18" charset="0"/>
                <a:ea typeface="宋体" panose="02010600030101010101" pitchFamily="2" charset="-122"/>
                <a:sym typeface="宋体" panose="02010600030101010101" pitchFamily="2" charset="-122"/>
              </a:rPr>
              <a:t> </a:t>
            </a:r>
            <a:r>
              <a:rPr lang="en-US" altLang="zh-CN" dirty="0">
                <a:latin typeface="Times New Roman" panose="02020603050405020304" pitchFamily="18" charset="0"/>
                <a:ea typeface="宋体" panose="02010600030101010101" pitchFamily="2" charset="-122"/>
                <a:sym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系统的稳定性：</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1. </a:t>
            </a:r>
            <a:r>
              <a:rPr lang="zh-CN" altLang="en-US" dirty="0">
                <a:latin typeface="Times New Roman" panose="02020603050405020304" pitchFamily="18" charset="0"/>
                <a:ea typeface="宋体" panose="02010600030101010101" pitchFamily="2" charset="-122"/>
              </a:rPr>
              <a:t>对任意有界的输入信号，系统都能得到有界的系统响应。</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nSpc>
                <a:spcPct val="130000"/>
              </a:lnSpc>
            </a:pPr>
            <a:r>
              <a:rPr lang="en-US" altLang="zh-CN" dirty="0">
                <a:latin typeface="Times New Roman" panose="02020603050405020304" pitchFamily="18" charset="0"/>
                <a:ea typeface="宋体" panose="02010600030101010101" pitchFamily="2" charset="-122"/>
              </a:rPr>
              <a:t>      2.</a:t>
            </a:r>
            <a:r>
              <a:rPr lang="zh-CN" altLang="en-US" dirty="0">
                <a:latin typeface="Times New Roman" panose="02020603050405020304" pitchFamily="18" charset="0"/>
                <a:ea typeface="宋体" panose="02010600030101010101" pitchFamily="2" charset="-122"/>
              </a:rPr>
              <a:t>系统的单位脉冲响应满足绝对可和的条件。</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nSpc>
                <a:spcPct val="130000"/>
              </a:lnSpc>
            </a:pPr>
            <a:endParaRPr lang="en-US" altLang="zh-CN" dirty="0">
              <a:latin typeface="Times New Roman" panose="02020603050405020304" pitchFamily="18" charset="0"/>
              <a:ea typeface="宋体" panose="02010600030101010101" pitchFamily="2" charset="-122"/>
            </a:endParaRPr>
          </a:p>
          <a:p>
            <a:pPr>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系统的稳定性由其差分方程的系数决定。</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11266" name="对象 306189"/>
          <p:cNvGraphicFramePr/>
          <p:nvPr/>
        </p:nvGraphicFramePr>
        <p:xfrm>
          <a:off x="2052638" y="2563813"/>
          <a:ext cx="5216525" cy="434975"/>
        </p:xfrm>
        <a:graphic>
          <a:graphicData uri="http://schemas.openxmlformats.org/presentationml/2006/ole">
            <mc:AlternateContent xmlns:mc="http://schemas.openxmlformats.org/markup-compatibility/2006">
              <mc:Choice xmlns:v="urn:schemas-microsoft-com:vml" Requires="v">
                <p:oleObj spid="_x0000_s3077" name="" r:id="rId1" imgW="2247900" imgH="215900" progId="Equation.3">
                  <p:embed/>
                </p:oleObj>
              </mc:Choice>
              <mc:Fallback>
                <p:oleObj name="" r:id="rId1" imgW="2247900" imgH="215900" progId="Equation.3">
                  <p:embed/>
                  <p:pic>
                    <p:nvPicPr>
                      <p:cNvPr id="0" name="图片 3076"/>
                      <p:cNvPicPr/>
                      <p:nvPr/>
                    </p:nvPicPr>
                    <p:blipFill>
                      <a:blip r:embed="rId2"/>
                      <a:stretch>
                        <a:fillRect/>
                      </a:stretch>
                    </p:blipFill>
                    <p:spPr>
                      <a:xfrm>
                        <a:off x="2052638" y="2563813"/>
                        <a:ext cx="5216525" cy="434975"/>
                      </a:xfrm>
                      <a:prstGeom prst="rect">
                        <a:avLst/>
                      </a:prstGeom>
                      <a:noFill/>
                      <a:ln w="38100">
                        <a:noFill/>
                        <a:miter/>
                      </a:ln>
                    </p:spPr>
                  </p:pic>
                </p:oleObj>
              </mc:Fallback>
            </mc:AlternateContent>
          </a:graphicData>
        </a:graphic>
      </p:graphicFrame>
      <p:graphicFrame>
        <p:nvGraphicFramePr>
          <p:cNvPr id="11267" name="对象 306189"/>
          <p:cNvGraphicFramePr/>
          <p:nvPr/>
        </p:nvGraphicFramePr>
        <p:xfrm>
          <a:off x="3305175" y="3717925"/>
          <a:ext cx="2711450" cy="869950"/>
        </p:xfrm>
        <a:graphic>
          <a:graphicData uri="http://schemas.openxmlformats.org/presentationml/2006/ole">
            <mc:AlternateContent xmlns:mc="http://schemas.openxmlformats.org/markup-compatibility/2006">
              <mc:Choice xmlns:v="urn:schemas-microsoft-com:vml" Requires="v">
                <p:oleObj spid="_x0000_s3076" name="" r:id="rId3" imgW="1168400" imgH="431800" progId="Equation.3">
                  <p:embed/>
                </p:oleObj>
              </mc:Choice>
              <mc:Fallback>
                <p:oleObj name="" r:id="rId3" imgW="1168400" imgH="431800" progId="Equation.3">
                  <p:embed/>
                  <p:pic>
                    <p:nvPicPr>
                      <p:cNvPr id="0" name="图片 3075"/>
                      <p:cNvPicPr/>
                      <p:nvPr/>
                    </p:nvPicPr>
                    <p:blipFill>
                      <a:blip r:embed="rId4"/>
                      <a:stretch>
                        <a:fillRect/>
                      </a:stretch>
                    </p:blipFill>
                    <p:spPr>
                      <a:xfrm>
                        <a:off x="3305175" y="3717925"/>
                        <a:ext cx="2711450" cy="869950"/>
                      </a:xfrm>
                      <a:prstGeom prst="rect">
                        <a:avLst/>
                      </a:prstGeom>
                      <a:noFill/>
                      <a:ln w="38100">
                        <a:noFill/>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文本框 728065"/>
          <p:cNvSpPr txBox="1"/>
          <p:nvPr/>
        </p:nvSpPr>
        <p:spPr>
          <a:xfrm>
            <a:off x="395288" y="476250"/>
            <a:ext cx="7993062" cy="5846763"/>
          </a:xfrm>
          <a:prstGeom prst="rect">
            <a:avLst/>
          </a:prstGeom>
          <a:noFill/>
          <a:ln w="9525">
            <a:noFill/>
          </a:ln>
        </p:spPr>
        <p:txBody>
          <a:bodyPr anchor="t" anchorCtr="0">
            <a:spAutoFit/>
          </a:bodyPr>
          <a:p>
            <a:pPr>
              <a:lnSpc>
                <a:spcPct val="130000"/>
              </a:lnSpc>
            </a:pPr>
            <a:r>
              <a:rPr lang="zh-CN" altLang="en-US" dirty="0">
                <a:latin typeface="Times New Roman" panose="02020603050405020304" pitchFamily="18" charset="0"/>
                <a:ea typeface="宋体" panose="02010600030101010101" pitchFamily="2" charset="-122"/>
              </a:rPr>
              <a:t>　　实际中检查系统是否稳定，不可能检查系统对所有有界的输入信号，输出是否都是有界输出，或者检查系统的单位脉冲响应满足绝对可和的条件。</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可行的方法：在系统的输入端加入单位阶跃序列，如果系统的输出趋近一个常数（包括零），就可以断定系统是稳定的。</a:t>
            </a:r>
            <a:endParaRPr lang="zh-CN" altLang="en-US" dirty="0">
              <a:solidFill>
                <a:srgbClr val="FF0000"/>
              </a:solidFill>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系统的稳态输出：指当</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时系统的输出。如果系统稳定，信号加入系统后，系统输出的开始一段称为暂态效应，随</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的加大，幅度趋于稳定，达到稳态输出。</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注意在我们的实验中均假设系统的初始状态为零。</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313" name="组合 727044"/>
          <p:cNvGrpSpPr/>
          <p:nvPr/>
        </p:nvGrpSpPr>
        <p:grpSpPr>
          <a:xfrm>
            <a:off x="539750" y="620713"/>
            <a:ext cx="7920038" cy="5737225"/>
            <a:chOff x="340" y="391"/>
            <a:chExt cx="4989" cy="3614"/>
          </a:xfrm>
        </p:grpSpPr>
        <p:sp>
          <p:nvSpPr>
            <p:cNvPr id="13314" name="文本框 727041"/>
            <p:cNvSpPr txBox="1"/>
            <p:nvPr/>
          </p:nvSpPr>
          <p:spPr>
            <a:xfrm>
              <a:off x="340" y="391"/>
              <a:ext cx="4989" cy="3614"/>
            </a:xfrm>
            <a:prstGeom prst="rect">
              <a:avLst/>
            </a:prstGeom>
            <a:noFill/>
            <a:ln w="9525">
              <a:noFill/>
            </a:ln>
          </p:spPr>
          <p:txBody>
            <a:bodyPr anchor="t" anchorCtr="0">
              <a:spAutoFit/>
            </a:bodyPr>
            <a:p>
              <a:pPr>
                <a:lnSpc>
                  <a:spcPct val="130000"/>
                </a:lnSpc>
              </a:pPr>
              <a:r>
                <a:rPr lang="zh-CN" altLang="en-US"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3</a:t>
              </a:r>
              <a:r>
                <a:rPr lang="zh-CN" altLang="en-US" b="1" dirty="0">
                  <a:latin typeface="Times New Roman" panose="02020603050405020304" pitchFamily="18" charset="0"/>
                  <a:ea typeface="宋体" panose="02010600030101010101" pitchFamily="2" charset="-122"/>
                </a:rPr>
                <a:t>． 实验内容及步骤</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编制程序，包括产生输入信号、单位脉冲响应序列的子程序，用</a:t>
              </a:r>
              <a:r>
                <a:rPr lang="en-US" altLang="zh-CN" dirty="0">
                  <a:latin typeface="Times New Roman" panose="02020603050405020304" pitchFamily="18" charset="0"/>
                  <a:ea typeface="宋体" panose="02010600030101010101" pitchFamily="2" charset="-122"/>
                </a:rPr>
                <a:t>filter</a:t>
              </a:r>
              <a:r>
                <a:rPr lang="zh-CN" altLang="en-US" dirty="0">
                  <a:latin typeface="Times New Roman" panose="02020603050405020304" pitchFamily="18" charset="0"/>
                  <a:ea typeface="宋体" panose="02010600030101010101" pitchFamily="2" charset="-122"/>
                </a:rPr>
                <a:t>函数或</a:t>
              </a:r>
              <a:r>
                <a:rPr lang="en-US" altLang="zh-CN" dirty="0">
                  <a:latin typeface="Times New Roman" panose="02020603050405020304" pitchFamily="18" charset="0"/>
                  <a:ea typeface="宋体" panose="02010600030101010101" pitchFamily="2" charset="-122"/>
                </a:rPr>
                <a:t>conv</a:t>
              </a:r>
              <a:r>
                <a:rPr lang="zh-CN" altLang="en-US" dirty="0">
                  <a:latin typeface="Times New Roman" panose="02020603050405020304" pitchFamily="18" charset="0"/>
                  <a:ea typeface="宋体" panose="02010600030101010101" pitchFamily="2" charset="-122"/>
                </a:rPr>
                <a:t>函数求解系统输出响应的主程序。程序中要有绘制信号波形的功能。</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给定一个低通滤波器的差分方程为</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200000"/>
                </a:lnSpc>
              </a:pPr>
              <a:r>
                <a:rPr lang="zh-CN" altLang="en-US" dirty="0">
                  <a:latin typeface="Times New Roman" panose="02020603050405020304" pitchFamily="18" charset="0"/>
                  <a:ea typeface="宋体" panose="02010600030101010101" pitchFamily="2" charset="-122"/>
                </a:rPr>
                <a:t>输入信号 </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6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①  </a:t>
              </a:r>
              <a:r>
                <a:rPr lang="zh-CN" altLang="en-US" dirty="0">
                  <a:latin typeface="Times New Roman" panose="02020603050405020304" pitchFamily="18" charset="0"/>
                  <a:ea typeface="宋体" panose="02010600030101010101" pitchFamily="2" charset="-122"/>
                </a:rPr>
                <a:t>求出系统的单位脉冲响应，画出其波形。</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② </a:t>
              </a:r>
              <a:r>
                <a:rPr lang="zh-CN" altLang="en-US" dirty="0">
                  <a:latin typeface="Times New Roman" panose="02020603050405020304" pitchFamily="18" charset="0"/>
                  <a:ea typeface="宋体" panose="02010600030101010101" pitchFamily="2" charset="-122"/>
                </a:rPr>
                <a:t>分别求出</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R</a:t>
              </a:r>
              <a:r>
                <a:rPr lang="en-US" altLang="zh-CN" baseline="-25000" dirty="0">
                  <a:latin typeface="Times New Roman" panose="02020603050405020304" pitchFamily="18" charset="0"/>
                  <a:ea typeface="宋体" panose="02010600030101010101" pitchFamily="2" charset="-122"/>
                </a:rPr>
                <a:t>8</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u</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的系统响应，并画出其波形</a:t>
              </a:r>
              <a:endParaRPr lang="zh-CN" altLang="en-US" dirty="0">
                <a:latin typeface="Times New Roman" panose="02020603050405020304" pitchFamily="18" charset="0"/>
                <a:ea typeface="宋体" panose="02010600030101010101" pitchFamily="2" charset="-122"/>
              </a:endParaRPr>
            </a:p>
          </p:txBody>
        </p:sp>
        <p:graphicFrame>
          <p:nvGraphicFramePr>
            <p:cNvPr id="13315" name="对象 727042"/>
            <p:cNvGraphicFramePr/>
            <p:nvPr/>
          </p:nvGraphicFramePr>
          <p:xfrm>
            <a:off x="793" y="2024"/>
            <a:ext cx="3719" cy="278"/>
          </p:xfrm>
          <a:graphic>
            <a:graphicData uri="http://schemas.openxmlformats.org/presentationml/2006/ole">
              <mc:AlternateContent xmlns:mc="http://schemas.openxmlformats.org/markup-compatibility/2006">
                <mc:Choice xmlns:v="urn:schemas-microsoft-com:vml" Requires="v">
                  <p:oleObj spid="_x0000_s3077" name="" r:id="rId1" imgW="2680970" imgH="203200" progId="Equation.DSMT4">
                    <p:embed/>
                  </p:oleObj>
                </mc:Choice>
                <mc:Fallback>
                  <p:oleObj name="" r:id="rId1" imgW="2680970" imgH="203200" progId="Equation.DSMT4">
                    <p:embed/>
                    <p:pic>
                      <p:nvPicPr>
                        <p:cNvPr id="0" name="图片 3076"/>
                        <p:cNvPicPr/>
                        <p:nvPr/>
                      </p:nvPicPr>
                      <p:blipFill>
                        <a:blip r:embed="rId2"/>
                        <a:stretch>
                          <a:fillRect/>
                        </a:stretch>
                      </p:blipFill>
                      <p:spPr>
                        <a:xfrm>
                          <a:off x="793" y="2024"/>
                          <a:ext cx="3719" cy="278"/>
                        </a:xfrm>
                        <a:prstGeom prst="rect">
                          <a:avLst/>
                        </a:prstGeom>
                        <a:noFill/>
                        <a:ln w="38100">
                          <a:noFill/>
                          <a:miter/>
                        </a:ln>
                      </p:spPr>
                    </p:pic>
                  </p:oleObj>
                </mc:Fallback>
              </mc:AlternateContent>
            </a:graphicData>
          </a:graphic>
        </p:graphicFrame>
        <p:graphicFrame>
          <p:nvGraphicFramePr>
            <p:cNvPr id="13316" name="对象 727043"/>
            <p:cNvGraphicFramePr/>
            <p:nvPr/>
          </p:nvGraphicFramePr>
          <p:xfrm>
            <a:off x="1746" y="2659"/>
            <a:ext cx="2441" cy="344"/>
          </p:xfrm>
          <a:graphic>
            <a:graphicData uri="http://schemas.openxmlformats.org/presentationml/2006/ole">
              <mc:AlternateContent xmlns:mc="http://schemas.openxmlformats.org/markup-compatibility/2006">
                <mc:Choice xmlns:v="urn:schemas-microsoft-com:vml" Requires="v">
                  <p:oleObj spid="_x0000_s3078" name="" r:id="rId3" imgW="1626235" imgH="228600" progId="Equation.DSMT4">
                    <p:embed/>
                  </p:oleObj>
                </mc:Choice>
                <mc:Fallback>
                  <p:oleObj name="" r:id="rId3" imgW="1626235" imgH="228600" progId="Equation.DSMT4">
                    <p:embed/>
                    <p:pic>
                      <p:nvPicPr>
                        <p:cNvPr id="0" name="图片 3077"/>
                        <p:cNvPicPr/>
                        <p:nvPr/>
                      </p:nvPicPr>
                      <p:blipFill>
                        <a:blip r:embed="rId4"/>
                        <a:stretch>
                          <a:fillRect/>
                        </a:stretch>
                      </p:blipFill>
                      <p:spPr>
                        <a:xfrm>
                          <a:off x="1746" y="2659"/>
                          <a:ext cx="2441" cy="344"/>
                        </a:xfrm>
                        <a:prstGeom prst="rect">
                          <a:avLst/>
                        </a:prstGeom>
                        <a:noFill/>
                        <a:ln w="38100">
                          <a:noFill/>
                          <a:miter/>
                        </a:ln>
                      </p:spPr>
                    </p:pic>
                  </p:oleObj>
                </mc:Fallback>
              </mc:AlternateContent>
            </a:graphicData>
          </a:graphic>
        </p:graphicFrame>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文本框 727041"/>
          <p:cNvSpPr txBox="1"/>
          <p:nvPr/>
        </p:nvSpPr>
        <p:spPr>
          <a:xfrm>
            <a:off x="395288" y="117475"/>
            <a:ext cx="7920038" cy="3927475"/>
          </a:xfrm>
          <a:prstGeom prst="rect">
            <a:avLst/>
          </a:prstGeom>
          <a:noFill/>
          <a:ln w="9525">
            <a:noFill/>
          </a:ln>
        </p:spPr>
        <p:txBody>
          <a:bodyPr anchor="t" anchorCtr="0">
            <a:spAutoFit/>
          </a:bodyPr>
          <a:p>
            <a:pPr>
              <a:lnSpc>
                <a:spcPct val="130000"/>
              </a:lnSpc>
            </a:pPr>
            <a:r>
              <a:rPr lang="zh-CN" altLang="en-US" noProof="1" dirty="0">
                <a:latin typeface="Times New Roman" panose="02020603050405020304" pitchFamily="18" charset="0"/>
                <a:ea typeface="宋体" panose="02010600030101010101" pitchFamily="2" charset="-122"/>
                <a:cs typeface="+mn-cs"/>
              </a:rPr>
              <a:t>　　</a:t>
            </a:r>
            <a:endParaRPr lang="zh-CN" altLang="en-US" noProof="1" dirty="0">
              <a:latin typeface="Times New Roman" panose="02020603050405020304" pitchFamily="18" charset="0"/>
              <a:ea typeface="宋体" panose="02010600030101010101" pitchFamily="2" charset="-122"/>
            </a:endParaRPr>
          </a:p>
          <a:p>
            <a:pPr>
              <a:lnSpc>
                <a:spcPct val="130000"/>
              </a:lnSpc>
              <a:buFont typeface="Arial" panose="020B0604020202020204" pitchFamily="34" charset="0"/>
            </a:pPr>
            <a:r>
              <a:rPr lang="en-US" altLang="zh-CN" b="1" noProof="1" dirty="0">
                <a:latin typeface="Times New Roman" panose="02020603050405020304" pitchFamily="18" charset="0"/>
                <a:ea typeface="宋体" panose="02010600030101010101" pitchFamily="2" charset="-122"/>
                <a:cs typeface="+mn-cs"/>
              </a:rPr>
              <a:t>  </a:t>
            </a:r>
            <a:r>
              <a:rPr lang="zh-CN" altLang="en-US" b="1" noProof="1" dirty="0">
                <a:latin typeface="Times New Roman" panose="02020603050405020304" pitchFamily="18" charset="0"/>
                <a:ea typeface="宋体" panose="02010600030101010101" pitchFamily="2" charset="-122"/>
                <a:cs typeface="+mn-cs"/>
              </a:rPr>
              <a:t>步骤：</a:t>
            </a:r>
            <a:endParaRPr lang="zh-CN" altLang="en-US" b="1" noProof="1" dirty="0">
              <a:latin typeface="Times New Roman" panose="02020603050405020304" pitchFamily="18" charset="0"/>
              <a:ea typeface="宋体" panose="02010600030101010101" pitchFamily="2" charset="-122"/>
              <a:cs typeface="+mn-cs"/>
            </a:endParaRPr>
          </a:p>
          <a:p>
            <a:pPr>
              <a:lnSpc>
                <a:spcPct val="130000"/>
              </a:lnSpc>
              <a:buFont typeface="Arial" panose="020B0604020202020204" pitchFamily="34" charset="0"/>
            </a:pPr>
            <a:endParaRPr lang="zh-CN" altLang="en-US" b="1" noProof="1" dirty="0">
              <a:latin typeface="Times New Roman" panose="02020603050405020304" pitchFamily="18" charset="0"/>
              <a:ea typeface="宋体" panose="02010600030101010101" pitchFamily="2" charset="-122"/>
            </a:endParaRPr>
          </a:p>
          <a:p>
            <a:pPr marL="342900" indent="-342900">
              <a:lnSpc>
                <a:spcPct val="130000"/>
              </a:lnSpc>
              <a:buFont typeface="Arial" panose="020B0604020202020204" pitchFamily="34" charset="0"/>
              <a:buChar char="•"/>
            </a:pPr>
            <a:r>
              <a:rPr lang="zh-CN" altLang="en-US" noProof="1" dirty="0">
                <a:latin typeface="Times New Roman" panose="02020603050405020304" pitchFamily="18" charset="0"/>
                <a:ea typeface="宋体" panose="02010600030101010101" pitchFamily="2" charset="-122"/>
                <a:cs typeface="+mn-cs"/>
              </a:rPr>
              <a:t>产生输入信号</a:t>
            </a:r>
            <a:endParaRPr lang="zh-CN" altLang="en-US" noProof="1" dirty="0">
              <a:latin typeface="Times New Roman" panose="02020603050405020304" pitchFamily="18" charset="0"/>
              <a:ea typeface="宋体" panose="02010600030101010101" pitchFamily="2" charset="-122"/>
            </a:endParaRPr>
          </a:p>
          <a:p>
            <a:pPr marL="342900" indent="-342900">
              <a:lnSpc>
                <a:spcPct val="130000"/>
              </a:lnSpc>
              <a:buFont typeface="Arial" panose="020B0604020202020204" pitchFamily="34" charset="0"/>
              <a:buChar char="•"/>
            </a:pPr>
            <a:endParaRPr lang="zh-CN" altLang="en-US" noProof="1" dirty="0">
              <a:latin typeface="Times New Roman" panose="02020603050405020304" pitchFamily="18" charset="0"/>
              <a:ea typeface="宋体" panose="02010600030101010101" pitchFamily="2" charset="-122"/>
            </a:endParaRPr>
          </a:p>
          <a:p>
            <a:pPr>
              <a:lnSpc>
                <a:spcPct val="130000"/>
              </a:lnSpc>
            </a:pPr>
            <a:r>
              <a:rPr lang="en-US" altLang="zh-CN" noProof="1" dirty="0">
                <a:latin typeface="Times New Roman" panose="02020603050405020304" pitchFamily="18" charset="0"/>
                <a:ea typeface="宋体" panose="02010600030101010101" pitchFamily="2" charset="-122"/>
                <a:cs typeface="+mn-cs"/>
              </a:rPr>
              <a:t>  </a:t>
            </a:r>
            <a:r>
              <a:rPr lang="zh-CN" altLang="en-US" noProof="1" dirty="0">
                <a:latin typeface="Times New Roman" panose="02020603050405020304" pitchFamily="18" charset="0"/>
                <a:ea typeface="宋体" panose="02010600030101010101" pitchFamily="2" charset="-122"/>
                <a:cs typeface="+mn-cs"/>
              </a:rPr>
              <a:t>x1n=[1 1 1 1 1 1 1 1 zeros(1,50)];  %产生信号x1(n)=R8(n)</a:t>
            </a:r>
            <a:endParaRPr lang="zh-CN" altLang="en-US" noProof="1" dirty="0">
              <a:latin typeface="Times New Roman" panose="02020603050405020304" pitchFamily="18" charset="0"/>
              <a:ea typeface="宋体" panose="02010600030101010101" pitchFamily="2" charset="-122"/>
            </a:endParaRPr>
          </a:p>
          <a:p>
            <a:pPr>
              <a:lnSpc>
                <a:spcPct val="130000"/>
              </a:lnSpc>
            </a:pPr>
            <a:r>
              <a:rPr lang="en-US" altLang="zh-CN" noProof="1" dirty="0">
                <a:latin typeface="Times New Roman" panose="02020603050405020304" pitchFamily="18" charset="0"/>
                <a:ea typeface="宋体" panose="02010600030101010101" pitchFamily="2" charset="-122"/>
                <a:cs typeface="+mn-cs"/>
              </a:rPr>
              <a:t> </a:t>
            </a:r>
            <a:r>
              <a:rPr lang="zh-CN" altLang="en-US" noProof="1" dirty="0">
                <a:latin typeface="Times New Roman" panose="02020603050405020304" pitchFamily="18" charset="0"/>
                <a:ea typeface="宋体" panose="02010600030101010101" pitchFamily="2" charset="-122"/>
                <a:cs typeface="+mn-cs"/>
              </a:rPr>
              <a:t>x2n=ones(1,128);    %产生信号x2(n)=u(n)</a:t>
            </a:r>
            <a:endParaRPr lang="zh-CN" altLang="en-US" noProof="1" dirty="0">
              <a:latin typeface="Times New Roman" panose="02020603050405020304" pitchFamily="18" charset="0"/>
              <a:ea typeface="宋体" panose="02010600030101010101" pitchFamily="2" charset="-122"/>
            </a:endParaRPr>
          </a:p>
          <a:p>
            <a:pPr>
              <a:lnSpc>
                <a:spcPct val="130000"/>
              </a:lnSpc>
            </a:pPr>
            <a:endParaRPr lang="zh-CN" altLang="en-US" noProof="1" dirty="0">
              <a:latin typeface="Times New Roman" panose="02020603050405020304" pitchFamily="18"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文本框 727041"/>
          <p:cNvSpPr txBox="1"/>
          <p:nvPr/>
        </p:nvSpPr>
        <p:spPr>
          <a:xfrm>
            <a:off x="539750" y="620713"/>
            <a:ext cx="8272463" cy="4407535"/>
          </a:xfrm>
          <a:prstGeom prst="rect">
            <a:avLst/>
          </a:prstGeom>
          <a:noFill/>
          <a:ln w="9525">
            <a:noFill/>
          </a:ln>
        </p:spPr>
        <p:txBody>
          <a:bodyPr wrap="square" anchor="t" anchorCtr="0">
            <a:spAutoFit/>
          </a:bodyPr>
          <a:p>
            <a:pPr marL="342900" indent="-342900">
              <a:lnSpc>
                <a:spcPct val="130000"/>
              </a:lnSpc>
              <a:buFont typeface="Arial" panose="020B0604020202020204" pitchFamily="34" charset="0"/>
              <a:buChar char="•"/>
            </a:pPr>
            <a:r>
              <a:rPr lang="zh-CN" altLang="en-US" noProof="1" dirty="0">
                <a:latin typeface="Times New Roman" panose="02020603050405020304" pitchFamily="18" charset="0"/>
                <a:ea typeface="宋体" panose="02010600030101010101" pitchFamily="2" charset="-122"/>
                <a:cs typeface="+mn-cs"/>
              </a:rPr>
              <a:t>求系统单位脉冲响应</a:t>
            </a:r>
            <a:endParaRPr lang="zh-CN" altLang="en-US" noProof="1" dirty="0">
              <a:latin typeface="Times New Roman" panose="02020603050405020304" pitchFamily="18" charset="0"/>
              <a:ea typeface="宋体" panose="02010600030101010101" pitchFamily="2" charset="-122"/>
            </a:endParaRPr>
          </a:p>
          <a:p>
            <a:pPr>
              <a:lnSpc>
                <a:spcPct val="130000"/>
              </a:lnSpc>
            </a:pPr>
            <a:r>
              <a:rPr lang="zh-CN" altLang="en-US" noProof="1" dirty="0">
                <a:latin typeface="Times New Roman" panose="02020603050405020304" pitchFamily="18" charset="0"/>
                <a:ea typeface="宋体" panose="02010600030101010101" pitchFamily="2" charset="-122"/>
                <a:cs typeface="+mn-cs"/>
                <a:sym typeface="+mn-ea"/>
              </a:rPr>
              <a:t>A=[1,-0.9];B=[0.05,0.05];  %系统差分方程系数向量B和A</a:t>
            </a:r>
            <a:endParaRPr lang="zh-CN" altLang="en-US" noProof="1" dirty="0">
              <a:latin typeface="Times New Roman" panose="02020603050405020304" pitchFamily="18" charset="0"/>
              <a:ea typeface="宋体" panose="02010600030101010101" pitchFamily="2" charset="-122"/>
            </a:endParaRPr>
          </a:p>
          <a:p>
            <a:pPr>
              <a:lnSpc>
                <a:spcPct val="130000"/>
              </a:lnSpc>
            </a:pPr>
            <a:r>
              <a:rPr noProof="1" dirty="0">
                <a:latin typeface="Times New Roman" panose="02020603050405020304" pitchFamily="18" charset="0"/>
                <a:ea typeface="宋体" panose="02010600030101010101" pitchFamily="2" charset="-122"/>
                <a:cs typeface="+mn-cs"/>
              </a:rPr>
              <a:t>hn=impz(B,A,58);    %求系统单位脉冲响应h(n)</a:t>
            </a:r>
            <a:endParaRPr noProof="1" dirty="0">
              <a:latin typeface="Times New Roman" panose="02020603050405020304" pitchFamily="18" charset="0"/>
              <a:ea typeface="宋体" panose="02010600030101010101" pitchFamily="2" charset="-122"/>
            </a:endParaRPr>
          </a:p>
          <a:p>
            <a:pPr>
              <a:lnSpc>
                <a:spcPct val="130000"/>
              </a:lnSpc>
            </a:pPr>
            <a:r>
              <a:rPr noProof="1" dirty="0">
                <a:latin typeface="Times New Roman" panose="02020603050405020304" pitchFamily="18" charset="0"/>
                <a:ea typeface="宋体" panose="02010600030101010101" pitchFamily="2" charset="-122"/>
                <a:cs typeface="+mn-cs"/>
              </a:rPr>
              <a:t>n=0:length(</a:t>
            </a:r>
            <a:r>
              <a:rPr lang="en-US" noProof="1" dirty="0">
                <a:latin typeface="Times New Roman" panose="02020603050405020304" pitchFamily="18" charset="0"/>
                <a:ea typeface="宋体" panose="02010600030101010101" pitchFamily="2" charset="-122"/>
                <a:cs typeface="+mn-cs"/>
              </a:rPr>
              <a:t>h</a:t>
            </a:r>
            <a:r>
              <a:rPr noProof="1" dirty="0">
                <a:latin typeface="Times New Roman" panose="02020603050405020304" pitchFamily="18" charset="0"/>
                <a:ea typeface="宋体" panose="02010600030101010101" pitchFamily="2" charset="-122"/>
                <a:cs typeface="+mn-cs"/>
              </a:rPr>
              <a:t>n)-1;</a:t>
            </a:r>
            <a:endParaRPr noProof="1" dirty="0">
              <a:latin typeface="Times New Roman" panose="02020603050405020304" pitchFamily="18" charset="0"/>
              <a:ea typeface="宋体" panose="02010600030101010101" pitchFamily="2" charset="-122"/>
            </a:endParaRPr>
          </a:p>
          <a:p>
            <a:pPr>
              <a:lnSpc>
                <a:spcPct val="130000"/>
              </a:lnSpc>
            </a:pPr>
            <a:r>
              <a:rPr noProof="1" dirty="0">
                <a:latin typeface="Times New Roman" panose="02020603050405020304" pitchFamily="18" charset="0"/>
                <a:ea typeface="宋体" panose="02010600030101010101" pitchFamily="2" charset="-122"/>
                <a:cs typeface="+mn-cs"/>
              </a:rPr>
              <a:t>stem(n,</a:t>
            </a:r>
            <a:r>
              <a:rPr lang="en-US" noProof="1" dirty="0">
                <a:latin typeface="Times New Roman" panose="02020603050405020304" pitchFamily="18" charset="0"/>
                <a:ea typeface="宋体" panose="02010600030101010101" pitchFamily="2" charset="-122"/>
                <a:cs typeface="+mn-cs"/>
              </a:rPr>
              <a:t>h</a:t>
            </a:r>
            <a:r>
              <a:rPr noProof="1" dirty="0">
                <a:latin typeface="Times New Roman" panose="02020603050405020304" pitchFamily="18" charset="0"/>
                <a:ea typeface="宋体" panose="02010600030101010101" pitchFamily="2" charset="-122"/>
                <a:cs typeface="+mn-cs"/>
              </a:rPr>
              <a:t>n);</a:t>
            </a:r>
            <a:endParaRPr noProof="1" dirty="0">
              <a:latin typeface="Times New Roman" panose="02020603050405020304" pitchFamily="18" charset="0"/>
              <a:ea typeface="宋体" panose="02010600030101010101" pitchFamily="2" charset="-122"/>
            </a:endParaRPr>
          </a:p>
          <a:p>
            <a:pPr>
              <a:lnSpc>
                <a:spcPct val="130000"/>
              </a:lnSpc>
            </a:pPr>
            <a:r>
              <a:rPr noProof="1" dirty="0">
                <a:latin typeface="Times New Roman" panose="02020603050405020304" pitchFamily="18" charset="0"/>
                <a:ea typeface="宋体" panose="02010600030101010101" pitchFamily="2" charset="-122"/>
                <a:cs typeface="+mn-cs"/>
              </a:rPr>
              <a:t>xlabel('n');</a:t>
            </a:r>
            <a:endParaRPr noProof="1" dirty="0">
              <a:latin typeface="Times New Roman" panose="02020603050405020304" pitchFamily="18" charset="0"/>
              <a:ea typeface="宋体" panose="02010600030101010101" pitchFamily="2" charset="-122"/>
            </a:endParaRPr>
          </a:p>
          <a:p>
            <a:pPr>
              <a:lnSpc>
                <a:spcPct val="130000"/>
              </a:lnSpc>
            </a:pPr>
            <a:r>
              <a:rPr noProof="1" dirty="0">
                <a:latin typeface="Times New Roman" panose="02020603050405020304" pitchFamily="18" charset="0"/>
                <a:ea typeface="宋体" panose="02010600030101010101" pitchFamily="2" charset="-122"/>
                <a:cs typeface="+mn-cs"/>
              </a:rPr>
              <a:t>ylabel('</a:t>
            </a:r>
            <a:r>
              <a:rPr lang="en-US" noProof="1" dirty="0">
                <a:latin typeface="Times New Roman" panose="02020603050405020304" pitchFamily="18" charset="0"/>
                <a:ea typeface="宋体" panose="02010600030101010101" pitchFamily="2" charset="-122"/>
                <a:cs typeface="+mn-cs"/>
              </a:rPr>
              <a:t>h(n)</a:t>
            </a:r>
            <a:r>
              <a:rPr noProof="1" dirty="0">
                <a:latin typeface="Times New Roman" panose="02020603050405020304" pitchFamily="18" charset="0"/>
                <a:ea typeface="宋体" panose="02010600030101010101" pitchFamily="2" charset="-122"/>
                <a:cs typeface="+mn-cs"/>
              </a:rPr>
              <a:t>');</a:t>
            </a:r>
            <a:endParaRPr noProof="1" dirty="0">
              <a:latin typeface="Times New Roman" panose="02020603050405020304" pitchFamily="18" charset="0"/>
              <a:ea typeface="宋体" panose="02010600030101010101" pitchFamily="2" charset="-122"/>
            </a:endParaRPr>
          </a:p>
          <a:p>
            <a:pPr>
              <a:lnSpc>
                <a:spcPct val="130000"/>
              </a:lnSpc>
            </a:pPr>
            <a:r>
              <a:rPr noProof="1" dirty="0">
                <a:latin typeface="Times New Roman" panose="02020603050405020304" pitchFamily="18" charset="0"/>
                <a:ea typeface="宋体" panose="02010600030101010101" pitchFamily="2" charset="-122"/>
                <a:cs typeface="+mn-cs"/>
              </a:rPr>
              <a:t>title('(a) 系统单位</a:t>
            </a:r>
            <a:endParaRPr noProof="1" dirty="0">
              <a:latin typeface="Times New Roman" panose="02020603050405020304" pitchFamily="18" charset="0"/>
              <a:ea typeface="宋体" panose="02010600030101010101" pitchFamily="2" charset="-122"/>
            </a:endParaRPr>
          </a:p>
          <a:p>
            <a:pPr>
              <a:lnSpc>
                <a:spcPct val="130000"/>
              </a:lnSpc>
            </a:pPr>
            <a:r>
              <a:rPr noProof="1" dirty="0">
                <a:latin typeface="Times New Roman" panose="02020603050405020304" pitchFamily="18" charset="0"/>
                <a:ea typeface="宋体" panose="02010600030101010101" pitchFamily="2" charset="-122"/>
                <a:cs typeface="+mn-cs"/>
              </a:rPr>
              <a:t>脉冲响应h(n)');</a:t>
            </a:r>
            <a:endParaRPr noProof="1" dirty="0">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3851910" y="2276475"/>
            <a:ext cx="3867150" cy="33743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文本框 727041"/>
          <p:cNvSpPr txBox="1"/>
          <p:nvPr/>
        </p:nvSpPr>
        <p:spPr>
          <a:xfrm>
            <a:off x="539750" y="620713"/>
            <a:ext cx="8272463" cy="3448685"/>
          </a:xfrm>
          <a:prstGeom prst="rect">
            <a:avLst/>
          </a:prstGeom>
          <a:noFill/>
          <a:ln w="9525">
            <a:noFill/>
          </a:ln>
        </p:spPr>
        <p:txBody>
          <a:bodyPr wrap="square" anchor="t" anchorCtr="0">
            <a:spAutoFit/>
          </a:bodyPr>
          <a:p>
            <a:pPr marL="342900" indent="-342900">
              <a:lnSpc>
                <a:spcPct val="130000"/>
              </a:lnSpc>
              <a:buFont typeface="Arial" panose="020B0604020202020204" pitchFamily="34" charset="0"/>
              <a:buChar char="•"/>
            </a:pPr>
            <a:r>
              <a:rPr lang="zh-CN" altLang="en-US" noProof="1" dirty="0">
                <a:latin typeface="Times New Roman" panose="02020603050405020304" pitchFamily="18" charset="0"/>
                <a:ea typeface="宋体" panose="02010600030101010101" pitchFamily="2" charset="-122"/>
                <a:cs typeface="+mn-cs"/>
              </a:rPr>
              <a:t>求</a:t>
            </a:r>
            <a:r>
              <a:rPr lang="en-US" altLang="zh-CN" i="1" noProof="1" dirty="0">
                <a:latin typeface="Times New Roman" panose="02020603050405020304" pitchFamily="18" charset="0"/>
                <a:ea typeface="宋体" panose="02010600030101010101" pitchFamily="2" charset="-122"/>
                <a:cs typeface="+mn-cs"/>
                <a:sym typeface="+mn-ea"/>
              </a:rPr>
              <a:t>x</a:t>
            </a:r>
            <a:r>
              <a:rPr lang="en-US" altLang="zh-CN" baseline="-25000" noProof="1" dirty="0">
                <a:latin typeface="Times New Roman" panose="02020603050405020304" pitchFamily="18" charset="0"/>
                <a:ea typeface="宋体" panose="02010600030101010101" pitchFamily="2" charset="-122"/>
                <a:cs typeface="+mn-cs"/>
                <a:sym typeface="+mn-ea"/>
              </a:rPr>
              <a:t>1</a:t>
            </a:r>
            <a:r>
              <a:rPr lang="en-US" altLang="zh-CN" noProof="1" dirty="0">
                <a:latin typeface="Times New Roman" panose="02020603050405020304" pitchFamily="18" charset="0"/>
                <a:ea typeface="宋体" panose="02010600030101010101" pitchFamily="2" charset="-122"/>
                <a:cs typeface="+mn-cs"/>
                <a:sym typeface="+mn-ea"/>
              </a:rPr>
              <a:t>(</a:t>
            </a:r>
            <a:r>
              <a:rPr lang="en-US" altLang="zh-CN" i="1" noProof="1" dirty="0">
                <a:latin typeface="Times New Roman" panose="02020603050405020304" pitchFamily="18" charset="0"/>
                <a:ea typeface="宋体" panose="02010600030101010101" pitchFamily="2" charset="-122"/>
                <a:cs typeface="+mn-cs"/>
                <a:sym typeface="+mn-ea"/>
              </a:rPr>
              <a:t>n</a:t>
            </a:r>
            <a:r>
              <a:rPr lang="en-US" altLang="zh-CN" noProof="1" dirty="0">
                <a:latin typeface="Times New Roman" panose="02020603050405020304" pitchFamily="18" charset="0"/>
                <a:ea typeface="宋体" panose="02010600030101010101" pitchFamily="2" charset="-122"/>
                <a:cs typeface="+mn-cs"/>
                <a:sym typeface="+mn-ea"/>
              </a:rPr>
              <a:t>)=</a:t>
            </a:r>
            <a:r>
              <a:rPr lang="en-US" altLang="zh-CN" i="1" noProof="1" dirty="0">
                <a:latin typeface="Times New Roman" panose="02020603050405020304" pitchFamily="18" charset="0"/>
                <a:ea typeface="宋体" panose="02010600030101010101" pitchFamily="2" charset="-122"/>
                <a:cs typeface="+mn-cs"/>
                <a:sym typeface="+mn-ea"/>
              </a:rPr>
              <a:t>R</a:t>
            </a:r>
            <a:r>
              <a:rPr lang="en-US" altLang="zh-CN" baseline="-25000" noProof="1" dirty="0">
                <a:latin typeface="Times New Roman" panose="02020603050405020304" pitchFamily="18" charset="0"/>
                <a:ea typeface="宋体" panose="02010600030101010101" pitchFamily="2" charset="-122"/>
                <a:cs typeface="+mn-cs"/>
                <a:sym typeface="+mn-ea"/>
              </a:rPr>
              <a:t>8</a:t>
            </a:r>
            <a:r>
              <a:rPr lang="en-US" altLang="zh-CN" noProof="1" dirty="0">
                <a:latin typeface="Times New Roman" panose="02020603050405020304" pitchFamily="18" charset="0"/>
                <a:ea typeface="宋体" panose="02010600030101010101" pitchFamily="2" charset="-122"/>
                <a:cs typeface="+mn-cs"/>
                <a:sym typeface="+mn-ea"/>
              </a:rPr>
              <a:t>(</a:t>
            </a:r>
            <a:r>
              <a:rPr lang="en-US" altLang="zh-CN" i="1" noProof="1" dirty="0">
                <a:latin typeface="Times New Roman" panose="02020603050405020304" pitchFamily="18" charset="0"/>
                <a:ea typeface="宋体" panose="02010600030101010101" pitchFamily="2" charset="-122"/>
                <a:cs typeface="+mn-cs"/>
                <a:sym typeface="+mn-ea"/>
              </a:rPr>
              <a:t>n</a:t>
            </a:r>
            <a:r>
              <a:rPr lang="en-US" altLang="zh-CN" noProof="1" dirty="0">
                <a:latin typeface="Times New Roman" panose="02020603050405020304" pitchFamily="18" charset="0"/>
                <a:ea typeface="宋体" panose="02010600030101010101" pitchFamily="2" charset="-122"/>
                <a:cs typeface="+mn-cs"/>
                <a:sym typeface="+mn-ea"/>
              </a:rPr>
              <a:t>)</a:t>
            </a:r>
            <a:r>
              <a:rPr lang="zh-CN" altLang="en-US" noProof="1" dirty="0">
                <a:latin typeface="Times New Roman" panose="02020603050405020304" pitchFamily="18" charset="0"/>
                <a:ea typeface="宋体" panose="02010600030101010101" pitchFamily="2" charset="-122"/>
                <a:cs typeface="+mn-cs"/>
                <a:sym typeface="+mn-ea"/>
              </a:rPr>
              <a:t>的系统响应，</a:t>
            </a:r>
            <a:endParaRPr lang="zh-CN" altLang="en-US" noProof="1" dirty="0">
              <a:latin typeface="Times New Roman" panose="02020603050405020304" pitchFamily="18" charset="0"/>
              <a:ea typeface="宋体" panose="02010600030101010101" pitchFamily="2" charset="-122"/>
            </a:endParaRPr>
          </a:p>
          <a:p>
            <a:pPr>
              <a:lnSpc>
                <a:spcPct val="130000"/>
              </a:lnSpc>
              <a:buFont typeface="Arial" panose="020B0604020202020204" pitchFamily="34" charset="0"/>
            </a:pPr>
            <a:endParaRPr noProof="1" dirty="0">
              <a:latin typeface="Times New Roman" panose="02020603050405020304" pitchFamily="18" charset="0"/>
              <a:ea typeface="宋体" panose="02010600030101010101" pitchFamily="2" charset="-122"/>
            </a:endParaRPr>
          </a:p>
          <a:p>
            <a:pPr>
              <a:lnSpc>
                <a:spcPct val="130000"/>
              </a:lnSpc>
              <a:buFont typeface="Arial" panose="020B0604020202020204" pitchFamily="34" charset="0"/>
            </a:pPr>
            <a:r>
              <a:rPr noProof="1" dirty="0">
                <a:latin typeface="Times New Roman" panose="02020603050405020304" pitchFamily="18" charset="0"/>
                <a:ea typeface="宋体" panose="02010600030101010101" pitchFamily="2" charset="-122"/>
                <a:cs typeface="+mn-cs"/>
              </a:rPr>
              <a:t>y1n=filter(B,A,x1n);   %求系统</a:t>
            </a:r>
            <a:r>
              <a:rPr lang="zh-CN" noProof="1" dirty="0">
                <a:latin typeface="Times New Roman" panose="02020603050405020304" pitchFamily="18" charset="0"/>
                <a:ea typeface="宋体" panose="02010600030101010101" pitchFamily="2" charset="-122"/>
                <a:cs typeface="+mn-cs"/>
              </a:rPr>
              <a:t>对</a:t>
            </a:r>
            <a:r>
              <a:rPr lang="en-US" altLang="zh-CN" i="1" noProof="1" dirty="0">
                <a:latin typeface="Times New Roman" panose="02020603050405020304" pitchFamily="18" charset="0"/>
                <a:ea typeface="宋体" panose="02010600030101010101" pitchFamily="2" charset="-122"/>
                <a:cs typeface="+mn-cs"/>
                <a:sym typeface="+mn-ea"/>
              </a:rPr>
              <a:t>x</a:t>
            </a:r>
            <a:r>
              <a:rPr lang="en-US" altLang="zh-CN" baseline="-25000" noProof="1" dirty="0">
                <a:latin typeface="Times New Roman" panose="02020603050405020304" pitchFamily="18" charset="0"/>
                <a:ea typeface="宋体" panose="02010600030101010101" pitchFamily="2" charset="-122"/>
                <a:cs typeface="+mn-cs"/>
                <a:sym typeface="+mn-ea"/>
              </a:rPr>
              <a:t>1</a:t>
            </a:r>
            <a:r>
              <a:rPr lang="en-US" altLang="zh-CN" noProof="1" dirty="0">
                <a:latin typeface="Times New Roman" panose="02020603050405020304" pitchFamily="18" charset="0"/>
                <a:ea typeface="宋体" panose="02010600030101010101" pitchFamily="2" charset="-122"/>
                <a:cs typeface="+mn-cs"/>
                <a:sym typeface="+mn-ea"/>
              </a:rPr>
              <a:t>(</a:t>
            </a:r>
            <a:r>
              <a:rPr lang="en-US" altLang="zh-CN" i="1" noProof="1" dirty="0">
                <a:latin typeface="Times New Roman" panose="02020603050405020304" pitchFamily="18" charset="0"/>
                <a:ea typeface="宋体" panose="02010600030101010101" pitchFamily="2" charset="-122"/>
                <a:cs typeface="+mn-cs"/>
                <a:sym typeface="+mn-ea"/>
              </a:rPr>
              <a:t>n</a:t>
            </a:r>
            <a:r>
              <a:rPr lang="en-US" altLang="zh-CN" noProof="1" dirty="0">
                <a:latin typeface="Times New Roman" panose="02020603050405020304" pitchFamily="18" charset="0"/>
                <a:ea typeface="宋体" panose="02010600030101010101" pitchFamily="2" charset="-122"/>
                <a:cs typeface="+mn-cs"/>
                <a:sym typeface="+mn-ea"/>
              </a:rPr>
              <a:t>)</a:t>
            </a:r>
            <a:r>
              <a:rPr lang="zh-CN" altLang="en-US" noProof="1" dirty="0">
                <a:latin typeface="Times New Roman" panose="02020603050405020304" pitchFamily="18" charset="0"/>
                <a:ea typeface="宋体" panose="02010600030101010101" pitchFamily="2" charset="-122"/>
                <a:cs typeface="+mn-cs"/>
                <a:sym typeface="+mn-ea"/>
              </a:rPr>
              <a:t>的响应</a:t>
            </a:r>
            <a:endParaRPr lang="zh-CN" altLang="en-US" noProof="1" dirty="0">
              <a:latin typeface="Times New Roman" panose="02020603050405020304" pitchFamily="18" charset="0"/>
              <a:sym typeface="+mn-ea"/>
            </a:endParaRPr>
          </a:p>
          <a:p>
            <a:pPr>
              <a:lnSpc>
                <a:spcPct val="130000"/>
              </a:lnSpc>
              <a:buFont typeface="Arial" panose="020B0604020202020204" pitchFamily="34" charset="0"/>
            </a:pPr>
            <a:r>
              <a:rPr noProof="1" dirty="0">
                <a:latin typeface="Times New Roman" panose="02020603050405020304" pitchFamily="18" charset="0"/>
                <a:ea typeface="宋体" panose="02010600030101010101" pitchFamily="2" charset="-122"/>
                <a:cs typeface="+mn-cs"/>
                <a:sym typeface="+mn-ea"/>
              </a:rPr>
              <a:t>n=0:length(</a:t>
            </a:r>
            <a:r>
              <a:rPr lang="en-US" noProof="1" dirty="0">
                <a:latin typeface="Times New Roman" panose="02020603050405020304" pitchFamily="18" charset="0"/>
                <a:ea typeface="宋体" panose="02010600030101010101" pitchFamily="2" charset="-122"/>
                <a:cs typeface="+mn-cs"/>
                <a:sym typeface="+mn-ea"/>
              </a:rPr>
              <a:t>y1n</a:t>
            </a:r>
            <a:r>
              <a:rPr noProof="1" dirty="0">
                <a:latin typeface="Times New Roman" panose="02020603050405020304" pitchFamily="18" charset="0"/>
                <a:ea typeface="宋体" panose="02010600030101010101" pitchFamily="2" charset="-122"/>
                <a:cs typeface="+mn-cs"/>
                <a:sym typeface="+mn-ea"/>
              </a:rPr>
              <a:t>)-1;stem(n,y1n);</a:t>
            </a:r>
            <a:r>
              <a:rPr lang="en-US" noProof="1" dirty="0">
                <a:latin typeface="Times New Roman" panose="02020603050405020304" pitchFamily="18" charset="0"/>
                <a:ea typeface="宋体" panose="02010600030101010101" pitchFamily="2" charset="-122"/>
                <a:cs typeface="+mn-cs"/>
                <a:sym typeface="+mn-ea"/>
              </a:rPr>
              <a:t> </a:t>
            </a:r>
            <a:r>
              <a:rPr noProof="1" dirty="0">
                <a:latin typeface="Times New Roman" panose="02020603050405020304" pitchFamily="18" charset="0"/>
                <a:ea typeface="宋体" panose="02010600030101010101" pitchFamily="2" charset="-122"/>
                <a:cs typeface="+mn-cs"/>
                <a:sym typeface="+mn-ea"/>
              </a:rPr>
              <a:t>xlabel('n');</a:t>
            </a:r>
            <a:r>
              <a:rPr lang="en-US" noProof="1" dirty="0">
                <a:latin typeface="Times New Roman" panose="02020603050405020304" pitchFamily="18" charset="0"/>
                <a:ea typeface="宋体" panose="02010600030101010101" pitchFamily="2" charset="-122"/>
                <a:cs typeface="+mn-cs"/>
                <a:sym typeface="+mn-ea"/>
              </a:rPr>
              <a:t>  </a:t>
            </a:r>
            <a:r>
              <a:rPr noProof="1" dirty="0">
                <a:latin typeface="Times New Roman" panose="02020603050405020304" pitchFamily="18" charset="0"/>
                <a:ea typeface="宋体" panose="02010600030101010101" pitchFamily="2" charset="-122"/>
                <a:cs typeface="+mn-cs"/>
                <a:sym typeface="+mn-ea"/>
              </a:rPr>
              <a:t>ylabel('</a:t>
            </a:r>
            <a:r>
              <a:rPr lang="en-US" noProof="1" dirty="0">
                <a:latin typeface="Times New Roman" panose="02020603050405020304" pitchFamily="18" charset="0"/>
                <a:ea typeface="宋体" panose="02010600030101010101" pitchFamily="2" charset="-122"/>
                <a:cs typeface="+mn-cs"/>
                <a:sym typeface="+mn-ea"/>
              </a:rPr>
              <a:t>y1(n)</a:t>
            </a:r>
            <a:r>
              <a:rPr noProof="1" dirty="0">
                <a:latin typeface="Times New Roman" panose="02020603050405020304" pitchFamily="18" charset="0"/>
                <a:ea typeface="宋体" panose="02010600030101010101" pitchFamily="2" charset="-122"/>
                <a:cs typeface="+mn-cs"/>
                <a:sym typeface="+mn-ea"/>
              </a:rPr>
              <a:t>');</a:t>
            </a:r>
            <a:endParaRPr noProof="1" dirty="0">
              <a:latin typeface="Times New Roman" panose="02020603050405020304" pitchFamily="18" charset="0"/>
              <a:ea typeface="宋体" panose="02010600030101010101" pitchFamily="2" charset="-122"/>
            </a:endParaRPr>
          </a:p>
          <a:p>
            <a:pPr>
              <a:lnSpc>
                <a:spcPct val="130000"/>
              </a:lnSpc>
            </a:pPr>
            <a:r>
              <a:rPr noProof="1" dirty="0">
                <a:latin typeface="Times New Roman" panose="02020603050405020304" pitchFamily="18" charset="0"/>
                <a:ea typeface="宋体" panose="02010600030101010101" pitchFamily="2" charset="-122"/>
                <a:cs typeface="+mn-cs"/>
                <a:sym typeface="+mn-ea"/>
              </a:rPr>
              <a:t>title('(b) 系统对R8(n)的响应y1(n)');</a:t>
            </a:r>
            <a:endParaRPr noProof="1" dirty="0">
              <a:latin typeface="Times New Roman" panose="02020603050405020304" pitchFamily="18" charset="0"/>
              <a:sym typeface="+mn-ea"/>
            </a:endParaRPr>
          </a:p>
          <a:p>
            <a:pPr>
              <a:lnSpc>
                <a:spcPct val="130000"/>
              </a:lnSpc>
            </a:pPr>
            <a:endParaRPr noProof="1" dirty="0">
              <a:latin typeface="Times New Roman" panose="02020603050405020304" pitchFamily="18" charset="0"/>
              <a:sym typeface="+mn-ea"/>
            </a:endParaRPr>
          </a:p>
          <a:p>
            <a:pPr>
              <a:lnSpc>
                <a:spcPct val="130000"/>
              </a:lnSpc>
            </a:pPr>
            <a:endParaRPr lang="en-US" noProof="1" dirty="0">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2555875" y="3356610"/>
            <a:ext cx="3576955" cy="30746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文本框 727041"/>
          <p:cNvSpPr txBox="1"/>
          <p:nvPr/>
        </p:nvSpPr>
        <p:spPr>
          <a:xfrm>
            <a:off x="467995" y="620713"/>
            <a:ext cx="8272463" cy="2489200"/>
          </a:xfrm>
          <a:prstGeom prst="rect">
            <a:avLst/>
          </a:prstGeom>
          <a:noFill/>
          <a:ln w="9525">
            <a:noFill/>
          </a:ln>
        </p:spPr>
        <p:txBody>
          <a:bodyPr wrap="square" anchor="t" anchorCtr="0">
            <a:spAutoFit/>
          </a:bodyPr>
          <a:p>
            <a:pPr marL="342900" indent="-342900">
              <a:lnSpc>
                <a:spcPct val="130000"/>
              </a:lnSpc>
              <a:buFont typeface="Arial" panose="020B0604020202020204" pitchFamily="34" charset="0"/>
              <a:buChar char="•"/>
            </a:pPr>
            <a:r>
              <a:rPr lang="zh-CN" altLang="en-US" noProof="1" dirty="0">
                <a:latin typeface="Times New Roman" panose="02020603050405020304" pitchFamily="18" charset="0"/>
                <a:ea typeface="宋体" panose="02010600030101010101" pitchFamily="2" charset="-122"/>
                <a:cs typeface="+mn-cs"/>
              </a:rPr>
              <a:t>求</a:t>
            </a:r>
            <a:r>
              <a:rPr lang="en-US" altLang="zh-CN" i="1" noProof="1" dirty="0">
                <a:latin typeface="Times New Roman" panose="02020603050405020304" pitchFamily="18" charset="0"/>
                <a:ea typeface="宋体" panose="02010600030101010101" pitchFamily="2" charset="-122"/>
                <a:cs typeface="+mn-cs"/>
                <a:sym typeface="+mn-ea"/>
              </a:rPr>
              <a:t>x</a:t>
            </a:r>
            <a:r>
              <a:rPr lang="en-US" altLang="zh-CN" baseline="-25000" noProof="1" dirty="0">
                <a:latin typeface="Times New Roman" panose="02020603050405020304" pitchFamily="18" charset="0"/>
                <a:ea typeface="宋体" panose="02010600030101010101" pitchFamily="2" charset="-122"/>
                <a:cs typeface="+mn-cs"/>
                <a:sym typeface="+mn-ea"/>
              </a:rPr>
              <a:t>2</a:t>
            </a:r>
            <a:r>
              <a:rPr lang="en-US" altLang="zh-CN" noProof="1" dirty="0">
                <a:latin typeface="Times New Roman" panose="02020603050405020304" pitchFamily="18" charset="0"/>
                <a:ea typeface="宋体" panose="02010600030101010101" pitchFamily="2" charset="-122"/>
                <a:cs typeface="+mn-cs"/>
                <a:sym typeface="+mn-ea"/>
              </a:rPr>
              <a:t>(</a:t>
            </a:r>
            <a:r>
              <a:rPr lang="en-US" altLang="zh-CN" i="1" noProof="1" dirty="0">
                <a:latin typeface="Times New Roman" panose="02020603050405020304" pitchFamily="18" charset="0"/>
                <a:ea typeface="宋体" panose="02010600030101010101" pitchFamily="2" charset="-122"/>
                <a:cs typeface="+mn-cs"/>
                <a:sym typeface="+mn-ea"/>
              </a:rPr>
              <a:t>n</a:t>
            </a:r>
            <a:r>
              <a:rPr lang="en-US" altLang="zh-CN" noProof="1" dirty="0">
                <a:latin typeface="Times New Roman" panose="02020603050405020304" pitchFamily="18" charset="0"/>
                <a:ea typeface="宋体" panose="02010600030101010101" pitchFamily="2" charset="-122"/>
                <a:cs typeface="+mn-cs"/>
                <a:sym typeface="+mn-ea"/>
              </a:rPr>
              <a:t>)=</a:t>
            </a:r>
            <a:r>
              <a:rPr lang="en-US" altLang="zh-CN" i="1" noProof="1" dirty="0">
                <a:latin typeface="Times New Roman" panose="02020603050405020304" pitchFamily="18" charset="0"/>
                <a:ea typeface="宋体" panose="02010600030101010101" pitchFamily="2" charset="-122"/>
                <a:cs typeface="+mn-cs"/>
                <a:sym typeface="+mn-ea"/>
              </a:rPr>
              <a:t>u</a:t>
            </a:r>
            <a:r>
              <a:rPr lang="en-US" altLang="zh-CN" noProof="1" dirty="0">
                <a:latin typeface="Times New Roman" panose="02020603050405020304" pitchFamily="18" charset="0"/>
                <a:ea typeface="宋体" panose="02010600030101010101" pitchFamily="2" charset="-122"/>
                <a:cs typeface="+mn-cs"/>
                <a:sym typeface="+mn-ea"/>
              </a:rPr>
              <a:t>(</a:t>
            </a:r>
            <a:r>
              <a:rPr lang="en-US" altLang="zh-CN" i="1" noProof="1" dirty="0">
                <a:latin typeface="Times New Roman" panose="02020603050405020304" pitchFamily="18" charset="0"/>
                <a:ea typeface="宋体" panose="02010600030101010101" pitchFamily="2" charset="-122"/>
                <a:cs typeface="+mn-cs"/>
                <a:sym typeface="+mn-ea"/>
              </a:rPr>
              <a:t>n</a:t>
            </a:r>
            <a:r>
              <a:rPr lang="en-US" altLang="zh-CN" noProof="1" dirty="0">
                <a:latin typeface="Times New Roman" panose="02020603050405020304" pitchFamily="18" charset="0"/>
                <a:ea typeface="宋体" panose="02010600030101010101" pitchFamily="2" charset="-122"/>
                <a:cs typeface="+mn-cs"/>
                <a:sym typeface="+mn-ea"/>
              </a:rPr>
              <a:t>)</a:t>
            </a:r>
            <a:r>
              <a:rPr lang="zh-CN" altLang="en-US" noProof="1" dirty="0">
                <a:latin typeface="Times New Roman" panose="02020603050405020304" pitchFamily="18" charset="0"/>
                <a:ea typeface="宋体" panose="02010600030101010101" pitchFamily="2" charset="-122"/>
                <a:cs typeface="+mn-cs"/>
                <a:sym typeface="+mn-ea"/>
              </a:rPr>
              <a:t>的系统响应，</a:t>
            </a:r>
            <a:endParaRPr lang="zh-CN" altLang="en-US" noProof="1" dirty="0">
              <a:latin typeface="Times New Roman" panose="02020603050405020304" pitchFamily="18" charset="0"/>
              <a:sym typeface="+mn-ea"/>
            </a:endParaRPr>
          </a:p>
          <a:p>
            <a:pPr marL="342900" indent="-342900">
              <a:lnSpc>
                <a:spcPct val="130000"/>
              </a:lnSpc>
              <a:buFont typeface="Arial" panose="020B0604020202020204" pitchFamily="34" charset="0"/>
              <a:buChar char="•"/>
            </a:pPr>
            <a:endParaRPr noProof="1" dirty="0">
              <a:latin typeface="Times New Roman" panose="02020603050405020304" pitchFamily="18" charset="0"/>
              <a:sym typeface="+mn-ea"/>
            </a:endParaRPr>
          </a:p>
          <a:p>
            <a:pPr>
              <a:lnSpc>
                <a:spcPct val="130000"/>
              </a:lnSpc>
            </a:pPr>
            <a:r>
              <a:rPr noProof="1" dirty="0">
                <a:latin typeface="Times New Roman" panose="02020603050405020304" pitchFamily="18" charset="0"/>
                <a:ea typeface="宋体" panose="02010600030101010101" pitchFamily="2" charset="-122"/>
                <a:cs typeface="+mn-cs"/>
              </a:rPr>
              <a:t>y2n=filter(B,A,x2n);  </a:t>
            </a:r>
            <a:r>
              <a:rPr noProof="1" dirty="0">
                <a:latin typeface="Times New Roman" panose="02020603050405020304" pitchFamily="18" charset="0"/>
                <a:ea typeface="宋体" panose="02010600030101010101" pitchFamily="2" charset="-122"/>
                <a:cs typeface="+mn-cs"/>
                <a:sym typeface="+mn-ea"/>
              </a:rPr>
              <a:t>%求系统</a:t>
            </a:r>
            <a:r>
              <a:rPr lang="zh-CN" noProof="1" dirty="0">
                <a:latin typeface="Times New Roman" panose="02020603050405020304" pitchFamily="18" charset="0"/>
                <a:ea typeface="宋体" panose="02010600030101010101" pitchFamily="2" charset="-122"/>
                <a:cs typeface="+mn-cs"/>
                <a:sym typeface="+mn-ea"/>
              </a:rPr>
              <a:t>对</a:t>
            </a:r>
            <a:r>
              <a:rPr lang="en-US" altLang="zh-CN" i="1" noProof="1" dirty="0">
                <a:latin typeface="Times New Roman" panose="02020603050405020304" pitchFamily="18" charset="0"/>
                <a:ea typeface="宋体" panose="02010600030101010101" pitchFamily="2" charset="-122"/>
                <a:cs typeface="+mn-cs"/>
                <a:sym typeface="+mn-ea"/>
              </a:rPr>
              <a:t>x</a:t>
            </a:r>
            <a:r>
              <a:rPr lang="en-US" altLang="zh-CN" baseline="-25000" noProof="1" dirty="0">
                <a:latin typeface="Times New Roman" panose="02020603050405020304" pitchFamily="18" charset="0"/>
                <a:ea typeface="宋体" panose="02010600030101010101" pitchFamily="2" charset="-122"/>
                <a:cs typeface="+mn-cs"/>
                <a:sym typeface="+mn-ea"/>
              </a:rPr>
              <a:t>2</a:t>
            </a:r>
            <a:r>
              <a:rPr lang="en-US" altLang="zh-CN" noProof="1" dirty="0">
                <a:latin typeface="Times New Roman" panose="02020603050405020304" pitchFamily="18" charset="0"/>
                <a:ea typeface="宋体" panose="02010600030101010101" pitchFamily="2" charset="-122"/>
                <a:cs typeface="+mn-cs"/>
                <a:sym typeface="+mn-ea"/>
              </a:rPr>
              <a:t>(</a:t>
            </a:r>
            <a:r>
              <a:rPr lang="en-US" altLang="zh-CN" i="1" noProof="1" dirty="0">
                <a:latin typeface="Times New Roman" panose="02020603050405020304" pitchFamily="18" charset="0"/>
                <a:ea typeface="宋体" panose="02010600030101010101" pitchFamily="2" charset="-122"/>
                <a:cs typeface="+mn-cs"/>
                <a:sym typeface="+mn-ea"/>
              </a:rPr>
              <a:t>n</a:t>
            </a:r>
            <a:r>
              <a:rPr lang="en-US" altLang="zh-CN" noProof="1" dirty="0">
                <a:latin typeface="Times New Roman" panose="02020603050405020304" pitchFamily="18" charset="0"/>
                <a:ea typeface="宋体" panose="02010600030101010101" pitchFamily="2" charset="-122"/>
                <a:cs typeface="+mn-cs"/>
                <a:sym typeface="+mn-ea"/>
              </a:rPr>
              <a:t>)</a:t>
            </a:r>
            <a:r>
              <a:rPr lang="zh-CN" altLang="en-US" noProof="1" dirty="0">
                <a:latin typeface="Times New Roman" panose="02020603050405020304" pitchFamily="18" charset="0"/>
                <a:ea typeface="宋体" panose="02010600030101010101" pitchFamily="2" charset="-122"/>
                <a:cs typeface="+mn-cs"/>
                <a:sym typeface="+mn-ea"/>
              </a:rPr>
              <a:t>的响应</a:t>
            </a:r>
            <a:endParaRPr noProof="1" dirty="0">
              <a:latin typeface="Times New Roman" panose="02020603050405020304" pitchFamily="18" charset="0"/>
              <a:ea typeface="宋体" panose="02010600030101010101" pitchFamily="2" charset="-122"/>
            </a:endParaRPr>
          </a:p>
          <a:p>
            <a:pPr>
              <a:lnSpc>
                <a:spcPct val="130000"/>
              </a:lnSpc>
            </a:pPr>
            <a:r>
              <a:rPr noProof="1" dirty="0">
                <a:latin typeface="Times New Roman" panose="02020603050405020304" pitchFamily="18" charset="0"/>
                <a:ea typeface="宋体" panose="02010600030101010101" pitchFamily="2" charset="-122"/>
                <a:cs typeface="+mn-cs"/>
                <a:sym typeface="+mn-ea"/>
              </a:rPr>
              <a:t>n=0:length(</a:t>
            </a:r>
            <a:r>
              <a:rPr lang="en-US" noProof="1" dirty="0">
                <a:latin typeface="Times New Roman" panose="02020603050405020304" pitchFamily="18" charset="0"/>
                <a:ea typeface="宋体" panose="02010600030101010101" pitchFamily="2" charset="-122"/>
                <a:cs typeface="+mn-cs"/>
                <a:sym typeface="+mn-ea"/>
              </a:rPr>
              <a:t>y2n</a:t>
            </a:r>
            <a:r>
              <a:rPr noProof="1" dirty="0">
                <a:latin typeface="Times New Roman" panose="02020603050405020304" pitchFamily="18" charset="0"/>
                <a:ea typeface="宋体" panose="02010600030101010101" pitchFamily="2" charset="-122"/>
                <a:cs typeface="+mn-cs"/>
                <a:sym typeface="+mn-ea"/>
              </a:rPr>
              <a:t>)-1</a:t>
            </a:r>
            <a:r>
              <a:rPr lang="en-US" noProof="1" dirty="0">
                <a:latin typeface="Times New Roman" panose="02020603050405020304" pitchFamily="18" charset="0"/>
                <a:ea typeface="宋体" panose="02010600030101010101" pitchFamily="2" charset="-122"/>
                <a:cs typeface="+mn-cs"/>
                <a:sym typeface="+mn-ea"/>
              </a:rPr>
              <a:t>; </a:t>
            </a:r>
            <a:r>
              <a:rPr noProof="1" dirty="0">
                <a:latin typeface="Times New Roman" panose="02020603050405020304" pitchFamily="18" charset="0"/>
                <a:ea typeface="宋体" panose="02010600030101010101" pitchFamily="2" charset="-122"/>
                <a:cs typeface="+mn-cs"/>
              </a:rPr>
              <a:t>stem(n,</a:t>
            </a:r>
            <a:r>
              <a:rPr noProof="1" dirty="0">
                <a:latin typeface="Times New Roman" panose="02020603050405020304" pitchFamily="18" charset="0"/>
                <a:ea typeface="宋体" panose="02010600030101010101" pitchFamily="2" charset="-122"/>
                <a:cs typeface="+mn-cs"/>
                <a:sym typeface="+mn-ea"/>
              </a:rPr>
              <a:t>y</a:t>
            </a:r>
            <a:r>
              <a:rPr lang="en-US" noProof="1" dirty="0">
                <a:latin typeface="Times New Roman" panose="02020603050405020304" pitchFamily="18" charset="0"/>
                <a:ea typeface="宋体" panose="02010600030101010101" pitchFamily="2" charset="-122"/>
                <a:cs typeface="+mn-cs"/>
                <a:sym typeface="+mn-ea"/>
              </a:rPr>
              <a:t>2</a:t>
            </a:r>
            <a:r>
              <a:rPr noProof="1" dirty="0">
                <a:latin typeface="Times New Roman" panose="02020603050405020304" pitchFamily="18" charset="0"/>
                <a:ea typeface="宋体" panose="02010600030101010101" pitchFamily="2" charset="-122"/>
                <a:cs typeface="+mn-cs"/>
                <a:sym typeface="+mn-ea"/>
              </a:rPr>
              <a:t>n</a:t>
            </a:r>
            <a:r>
              <a:rPr noProof="1" dirty="0">
                <a:latin typeface="Times New Roman" panose="02020603050405020304" pitchFamily="18" charset="0"/>
                <a:ea typeface="宋体" panose="02010600030101010101" pitchFamily="2" charset="-122"/>
                <a:cs typeface="+mn-cs"/>
              </a:rPr>
              <a:t>,'.');</a:t>
            </a:r>
            <a:r>
              <a:rPr lang="en-US" noProof="1" dirty="0">
                <a:latin typeface="Times New Roman" panose="02020603050405020304" pitchFamily="18" charset="0"/>
                <a:ea typeface="宋体" panose="02010600030101010101" pitchFamily="2" charset="-122"/>
                <a:cs typeface="+mn-cs"/>
              </a:rPr>
              <a:t>  </a:t>
            </a:r>
            <a:r>
              <a:rPr noProof="1" dirty="0">
                <a:latin typeface="Times New Roman" panose="02020603050405020304" pitchFamily="18" charset="0"/>
                <a:ea typeface="宋体" panose="02010600030101010101" pitchFamily="2" charset="-122"/>
                <a:cs typeface="+mn-cs"/>
              </a:rPr>
              <a:t>xlabel('n');</a:t>
            </a:r>
            <a:r>
              <a:rPr lang="en-US" noProof="1" dirty="0">
                <a:latin typeface="Times New Roman" panose="02020603050405020304" pitchFamily="18" charset="0"/>
                <a:ea typeface="宋体" panose="02010600030101010101" pitchFamily="2" charset="-122"/>
                <a:cs typeface="+mn-cs"/>
              </a:rPr>
              <a:t> </a:t>
            </a:r>
            <a:r>
              <a:rPr noProof="1" dirty="0">
                <a:latin typeface="Times New Roman" panose="02020603050405020304" pitchFamily="18" charset="0"/>
                <a:ea typeface="宋体" panose="02010600030101010101" pitchFamily="2" charset="-122"/>
                <a:cs typeface="+mn-cs"/>
              </a:rPr>
              <a:t>ylabel('</a:t>
            </a:r>
            <a:r>
              <a:rPr lang="en-US" noProof="1" dirty="0">
                <a:latin typeface="Times New Roman" panose="02020603050405020304" pitchFamily="18" charset="0"/>
                <a:ea typeface="宋体" panose="02010600030101010101" pitchFamily="2" charset="-122"/>
                <a:cs typeface="+mn-cs"/>
              </a:rPr>
              <a:t>y2(n)</a:t>
            </a:r>
            <a:r>
              <a:rPr noProof="1" dirty="0">
                <a:latin typeface="Times New Roman" panose="02020603050405020304" pitchFamily="18" charset="0"/>
                <a:ea typeface="宋体" panose="02010600030101010101" pitchFamily="2" charset="-122"/>
                <a:cs typeface="+mn-cs"/>
              </a:rPr>
              <a:t>');</a:t>
            </a:r>
            <a:endParaRPr noProof="1" dirty="0">
              <a:latin typeface="Times New Roman" panose="02020603050405020304" pitchFamily="18" charset="0"/>
              <a:ea typeface="宋体" panose="02010600030101010101" pitchFamily="2" charset="-122"/>
            </a:endParaRPr>
          </a:p>
          <a:p>
            <a:pPr>
              <a:lnSpc>
                <a:spcPct val="130000"/>
              </a:lnSpc>
            </a:pPr>
            <a:r>
              <a:rPr noProof="1" dirty="0">
                <a:latin typeface="Times New Roman" panose="02020603050405020304" pitchFamily="18" charset="0"/>
                <a:ea typeface="宋体" panose="02010600030101010101" pitchFamily="2" charset="-122"/>
                <a:cs typeface="+mn-cs"/>
              </a:rPr>
              <a:t>title('(c) 系统对u(n)的响应y2(n)')</a:t>
            </a:r>
            <a:r>
              <a:rPr lang="en-US" noProof="1" dirty="0">
                <a:latin typeface="Times New Roman" panose="02020603050405020304" pitchFamily="18" charset="0"/>
                <a:ea typeface="宋体" panose="02010600030101010101" pitchFamily="2" charset="-122"/>
                <a:cs typeface="+mn-cs"/>
              </a:rPr>
              <a:t>;</a:t>
            </a:r>
            <a:endParaRPr lang="en-US" noProof="1" dirty="0">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2267585" y="3140710"/>
            <a:ext cx="3843020" cy="33394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文本框 727041"/>
          <p:cNvSpPr txBox="1"/>
          <p:nvPr/>
        </p:nvSpPr>
        <p:spPr>
          <a:xfrm>
            <a:off x="611505" y="620078"/>
            <a:ext cx="8272463" cy="2489200"/>
          </a:xfrm>
          <a:prstGeom prst="rect">
            <a:avLst/>
          </a:prstGeom>
          <a:noFill/>
          <a:ln w="9525">
            <a:noFill/>
          </a:ln>
        </p:spPr>
        <p:txBody>
          <a:bodyPr wrap="square" anchor="t" anchorCtr="0">
            <a:spAutoFit/>
          </a:bodyPr>
          <a:p>
            <a:pPr>
              <a:lnSpc>
                <a:spcPct val="130000"/>
              </a:lnSpc>
            </a:pPr>
            <a:r>
              <a:rPr lang="zh-CN" altLang="en-US" dirty="0">
                <a:latin typeface="Times New Roman" panose="02020603050405020304" pitchFamily="18" charset="0"/>
                <a:ea typeface="宋体" panose="02010600030101010101" pitchFamily="2" charset="-122"/>
              </a:rPr>
              <a:t>将三个图画在一起：使用</a:t>
            </a:r>
            <a:r>
              <a:rPr lang="en-US" altLang="zh-CN"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subplot</a:t>
            </a:r>
            <a:r>
              <a:rPr lang="zh-CN" altLang="en-US" dirty="0">
                <a:latin typeface="Times New Roman" panose="02020603050405020304" pitchFamily="18" charset="0"/>
                <a:ea typeface="宋体" panose="02010600030101010101" pitchFamily="2" charset="-122"/>
              </a:rPr>
              <a:t>指令</a:t>
            </a:r>
            <a:endParaRPr lang="zh-CN" altLang="en-US" dirty="0">
              <a:latin typeface="Times New Roman" panose="02020603050405020304" pitchFamily="18" charset="0"/>
              <a:ea typeface="宋体" panose="02010600030101010101" pitchFamily="2" charset="-122"/>
            </a:endParaRPr>
          </a:p>
          <a:p>
            <a:pPr>
              <a:lnSpc>
                <a:spcPct val="130000"/>
              </a:lnSpc>
            </a:pPr>
            <a:r>
              <a:rPr lang="en-US" altLang="zh-CN" dirty="0">
                <a:latin typeface="Times New Roman" panose="02020603050405020304" pitchFamily="18" charset="0"/>
                <a:ea typeface="宋体" panose="02010600030101010101" pitchFamily="2" charset="-122"/>
              </a:rPr>
              <a:t>subplot(1,3,1); </a:t>
            </a:r>
            <a:r>
              <a:rPr lang="zh-CN" altLang="en-US" dirty="0">
                <a:latin typeface="Times New Roman" panose="02020603050405020304" pitchFamily="18" charset="0"/>
                <a:ea typeface="宋体" panose="02010600030101010101" pitchFamily="2" charset="-122"/>
              </a:rPr>
              <a:t>代码</a:t>
            </a:r>
            <a:r>
              <a:rPr lang="en-US" altLang="zh-CN" dirty="0">
                <a:latin typeface="Times New Roman" panose="02020603050405020304" pitchFamily="18" charset="0"/>
                <a:ea typeface="宋体" panose="02010600030101010101" pitchFamily="2" charset="-122"/>
              </a:rPr>
              <a:t>1...</a:t>
            </a:r>
            <a:endParaRPr lang="en-US" altLang="zh-CN" dirty="0">
              <a:latin typeface="Times New Roman" panose="02020603050405020304" pitchFamily="18" charset="0"/>
              <a:ea typeface="宋体" panose="02010600030101010101" pitchFamily="2" charset="-122"/>
            </a:endParaRPr>
          </a:p>
          <a:p>
            <a:pPr>
              <a:lnSpc>
                <a:spcPct val="130000"/>
              </a:lnSpc>
            </a:pPr>
            <a:r>
              <a:rPr lang="en-US" altLang="zh-CN" dirty="0">
                <a:latin typeface="Times New Roman" panose="02020603050405020304" pitchFamily="18" charset="0"/>
                <a:ea typeface="宋体" panose="02010600030101010101" pitchFamily="2" charset="-122"/>
              </a:rPr>
              <a:t>subplot(1,3,2); </a:t>
            </a:r>
            <a:r>
              <a:rPr lang="zh-CN" altLang="en-US" dirty="0">
                <a:latin typeface="Times New Roman" panose="02020603050405020304" pitchFamily="18" charset="0"/>
                <a:ea typeface="宋体" panose="02010600030101010101" pitchFamily="2" charset="-122"/>
              </a:rPr>
              <a:t>代码</a:t>
            </a:r>
            <a:r>
              <a:rPr lang="en-US" altLang="zh-CN" dirty="0">
                <a:latin typeface="Times New Roman" panose="02020603050405020304" pitchFamily="18" charset="0"/>
                <a:ea typeface="宋体" panose="02010600030101010101" pitchFamily="2" charset="-122"/>
              </a:rPr>
              <a:t>2...</a:t>
            </a:r>
            <a:endParaRPr lang="en-US" altLang="zh-CN" dirty="0">
              <a:latin typeface="Times New Roman" panose="02020603050405020304" pitchFamily="18" charset="0"/>
              <a:ea typeface="宋体" panose="02010600030101010101" pitchFamily="2" charset="-122"/>
            </a:endParaRPr>
          </a:p>
          <a:p>
            <a:pPr>
              <a:lnSpc>
                <a:spcPct val="130000"/>
              </a:lnSpc>
            </a:pPr>
            <a:r>
              <a:rPr lang="en-US" altLang="zh-CN" dirty="0">
                <a:latin typeface="Times New Roman" panose="02020603050405020304" pitchFamily="18" charset="0"/>
                <a:ea typeface="宋体" panose="02010600030101010101" pitchFamily="2" charset="-122"/>
              </a:rPr>
              <a:t>subplot(1,3,3); </a:t>
            </a:r>
            <a:r>
              <a:rPr lang="zh-CN" altLang="en-US" dirty="0">
                <a:latin typeface="Times New Roman" panose="02020603050405020304" pitchFamily="18" charset="0"/>
                <a:ea typeface="宋体" panose="02010600030101010101" pitchFamily="2" charset="-122"/>
              </a:rPr>
              <a:t>代码</a:t>
            </a:r>
            <a:r>
              <a:rPr lang="en-US" altLang="zh-CN" dirty="0">
                <a:latin typeface="Times New Roman" panose="02020603050405020304" pitchFamily="18" charset="0"/>
                <a:ea typeface="宋体" panose="02010600030101010101" pitchFamily="2" charset="-122"/>
              </a:rPr>
              <a:t>3...</a:t>
            </a:r>
            <a:endParaRPr lang="en-US" altLang="zh-CN"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p:txBody>
      </p:sp>
      <p:pic>
        <p:nvPicPr>
          <p:cNvPr id="18434" name="图片 2"/>
          <p:cNvPicPr>
            <a:picLocks noChangeAspect="1"/>
          </p:cNvPicPr>
          <p:nvPr/>
        </p:nvPicPr>
        <p:blipFill>
          <a:blip r:embed="rId1"/>
          <a:stretch>
            <a:fillRect/>
          </a:stretch>
        </p:blipFill>
        <p:spPr>
          <a:xfrm>
            <a:off x="755650" y="3070225"/>
            <a:ext cx="7693025" cy="3013075"/>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9457" name="组合 726020"/>
          <p:cNvGrpSpPr/>
          <p:nvPr/>
        </p:nvGrpSpPr>
        <p:grpSpPr>
          <a:xfrm>
            <a:off x="755650" y="1052513"/>
            <a:ext cx="7488238" cy="3927475"/>
            <a:chOff x="476" y="663"/>
            <a:chExt cx="4717" cy="2474"/>
          </a:xfrm>
        </p:grpSpPr>
        <p:sp>
          <p:nvSpPr>
            <p:cNvPr id="19458" name="文本框 726017"/>
            <p:cNvSpPr txBox="1"/>
            <p:nvPr/>
          </p:nvSpPr>
          <p:spPr>
            <a:xfrm>
              <a:off x="476" y="663"/>
              <a:ext cx="4717" cy="2474"/>
            </a:xfrm>
            <a:prstGeom prst="rect">
              <a:avLst/>
            </a:prstGeom>
            <a:noFill/>
            <a:ln w="9525">
              <a:noFill/>
            </a:ln>
          </p:spPr>
          <p:txBody>
            <a:bodyPr anchor="t" anchorCtr="0">
              <a:spAutoFit/>
            </a:bodyPr>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给定系统的单位脉冲响应为</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用线性卷积法求</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R</a:t>
              </a:r>
              <a:r>
                <a:rPr lang="en-US" altLang="zh-CN" baseline="-25000" dirty="0">
                  <a:latin typeface="Times New Roman" panose="02020603050405020304" pitchFamily="18" charset="0"/>
                  <a:ea typeface="宋体" panose="02010600030101010101" pitchFamily="2" charset="-122"/>
                </a:rPr>
                <a:t>8</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分别对系统</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i="1"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的输出响应，并画出波形。</a:t>
              </a:r>
              <a:endParaRPr lang="zh-CN" altLang="en-US" dirty="0">
                <a:latin typeface="Times New Roman" panose="02020603050405020304" pitchFamily="18" charset="0"/>
                <a:ea typeface="宋体" panose="02010600030101010101" pitchFamily="2" charset="-122"/>
              </a:endParaRPr>
            </a:p>
          </p:txBody>
        </p:sp>
        <p:graphicFrame>
          <p:nvGraphicFramePr>
            <p:cNvPr id="19459" name="对象 726018"/>
            <p:cNvGraphicFramePr/>
            <p:nvPr/>
          </p:nvGraphicFramePr>
          <p:xfrm>
            <a:off x="1655" y="1344"/>
            <a:ext cx="1315" cy="332"/>
          </p:xfrm>
          <a:graphic>
            <a:graphicData uri="http://schemas.openxmlformats.org/presentationml/2006/ole">
              <mc:AlternateContent xmlns:mc="http://schemas.openxmlformats.org/markup-compatibility/2006">
                <mc:Choice xmlns:v="urn:schemas-microsoft-com:vml" Requires="v">
                  <p:oleObj spid="_x0000_s3079" name="" r:id="rId1" imgW="901700" imgH="228600" progId="Equation.DSMT4">
                    <p:embed/>
                  </p:oleObj>
                </mc:Choice>
                <mc:Fallback>
                  <p:oleObj name="" r:id="rId1" imgW="901700" imgH="228600" progId="Equation.DSMT4">
                    <p:embed/>
                    <p:pic>
                      <p:nvPicPr>
                        <p:cNvPr id="0" name="图片 3078"/>
                        <p:cNvPicPr/>
                        <p:nvPr/>
                      </p:nvPicPr>
                      <p:blipFill>
                        <a:blip r:embed="rId2"/>
                        <a:stretch>
                          <a:fillRect/>
                        </a:stretch>
                      </p:blipFill>
                      <p:spPr>
                        <a:xfrm>
                          <a:off x="1655" y="1344"/>
                          <a:ext cx="1315" cy="332"/>
                        </a:xfrm>
                        <a:prstGeom prst="rect">
                          <a:avLst/>
                        </a:prstGeom>
                        <a:noFill/>
                        <a:ln w="38100">
                          <a:noFill/>
                          <a:miter/>
                        </a:ln>
                      </p:spPr>
                    </p:pic>
                  </p:oleObj>
                </mc:Fallback>
              </mc:AlternateContent>
            </a:graphicData>
          </a:graphic>
        </p:graphicFrame>
        <p:graphicFrame>
          <p:nvGraphicFramePr>
            <p:cNvPr id="19460" name="对象 726019"/>
            <p:cNvGraphicFramePr/>
            <p:nvPr/>
          </p:nvGraphicFramePr>
          <p:xfrm>
            <a:off x="839" y="1934"/>
            <a:ext cx="4150" cy="296"/>
          </p:xfrm>
          <a:graphic>
            <a:graphicData uri="http://schemas.openxmlformats.org/presentationml/2006/ole">
              <mc:AlternateContent xmlns:mc="http://schemas.openxmlformats.org/markup-compatibility/2006">
                <mc:Choice xmlns:v="urn:schemas-microsoft-com:vml" Requires="v">
                  <p:oleObj spid="_x0000_s3080" name="" r:id="rId3" imgW="3073400" imgH="215900" progId="Equation.DSMT4">
                    <p:embed/>
                  </p:oleObj>
                </mc:Choice>
                <mc:Fallback>
                  <p:oleObj name="" r:id="rId3" imgW="3073400" imgH="215900" progId="Equation.DSMT4">
                    <p:embed/>
                    <p:pic>
                      <p:nvPicPr>
                        <p:cNvPr id="0" name="图片 3079"/>
                        <p:cNvPicPr/>
                        <p:nvPr/>
                      </p:nvPicPr>
                      <p:blipFill>
                        <a:blip r:embed="rId4"/>
                        <a:stretch>
                          <a:fillRect/>
                        </a:stretch>
                      </p:blipFill>
                      <p:spPr>
                        <a:xfrm>
                          <a:off x="839" y="1934"/>
                          <a:ext cx="4150" cy="296"/>
                        </a:xfrm>
                        <a:prstGeom prst="rect">
                          <a:avLst/>
                        </a:prstGeom>
                        <a:noFill/>
                        <a:ln w="38100">
                          <a:noFill/>
                          <a:miter/>
                        </a:ln>
                      </p:spPr>
                    </p:pic>
                  </p:oleObj>
                </mc:Fallback>
              </mc:AlternateContent>
            </a:graphicData>
          </a:graphic>
        </p:graphicFrame>
      </p:grpSp>
      <p:sp>
        <p:nvSpPr>
          <p:cNvPr id="19461" name="文本框 1"/>
          <p:cNvSpPr txBox="1"/>
          <p:nvPr/>
        </p:nvSpPr>
        <p:spPr>
          <a:xfrm>
            <a:off x="1331913" y="5300663"/>
            <a:ext cx="4572000" cy="460375"/>
          </a:xfrm>
          <a:prstGeom prst="rect">
            <a:avLst/>
          </a:prstGeom>
          <a:noFill/>
          <a:ln w="9525">
            <a:noFill/>
          </a:ln>
        </p:spPr>
        <p:txBody>
          <a:bodyPr wrap="square" anchor="t" anchorCtr="0">
            <a:spAutoFit/>
          </a:bodyPr>
          <a:p>
            <a:r>
              <a:rPr lang="zh-CN" altLang="en-US" dirty="0">
                <a:latin typeface="Times New Roman" panose="02020603050405020304" pitchFamily="18" charset="0"/>
                <a:ea typeface="宋体" panose="02010600030101010101" pitchFamily="2" charset="-122"/>
              </a:rPr>
              <a:t>对于</a:t>
            </a:r>
            <a:r>
              <a:rPr lang="en-US" altLang="zh-CN" dirty="0">
                <a:latin typeface="Times New Roman" panose="02020603050405020304" pitchFamily="18" charset="0"/>
                <a:ea typeface="宋体" panose="02010600030101010101" pitchFamily="2" charset="-122"/>
              </a:rPr>
              <a:t>LTI</a:t>
            </a:r>
            <a:r>
              <a:rPr lang="zh-CN" altLang="en-US" dirty="0">
                <a:latin typeface="Times New Roman" panose="02020603050405020304" pitchFamily="18" charset="0"/>
                <a:ea typeface="宋体" panose="02010600030101010101" pitchFamily="2" charset="-122"/>
              </a:rPr>
              <a:t>系统</a:t>
            </a:r>
            <a:endParaRPr lang="zh-CN" altLang="en-US" dirty="0">
              <a:latin typeface="Times New Roman" panose="02020603050405020304" pitchFamily="18" charset="0"/>
              <a:ea typeface="宋体" panose="02010600030101010101" pitchFamily="2" charset="-122"/>
            </a:endParaRPr>
          </a:p>
        </p:txBody>
      </p:sp>
      <p:pic>
        <p:nvPicPr>
          <p:cNvPr id="19462" name="图片 2"/>
          <p:cNvPicPr>
            <a:picLocks noChangeAspect="1"/>
          </p:cNvPicPr>
          <p:nvPr/>
        </p:nvPicPr>
        <p:blipFill>
          <a:blip r:embed="rId5"/>
          <a:stretch>
            <a:fillRect/>
          </a:stretch>
        </p:blipFill>
        <p:spPr>
          <a:xfrm>
            <a:off x="3132138" y="4979988"/>
            <a:ext cx="4789487" cy="1031875"/>
          </a:xfrm>
          <a:prstGeom prst="rect">
            <a:avLst/>
          </a:prstGeom>
          <a:noFill/>
          <a:ln w="9525">
            <a:noFill/>
          </a:ln>
        </p:spPr>
      </p:pic>
      <p:sp>
        <p:nvSpPr>
          <p:cNvPr id="19463" name="文本框 29709"/>
          <p:cNvSpPr txBox="1"/>
          <p:nvPr/>
        </p:nvSpPr>
        <p:spPr>
          <a:xfrm>
            <a:off x="1331913" y="5140325"/>
            <a:ext cx="6459537" cy="846138"/>
          </a:xfrm>
          <a:prstGeom prst="rect">
            <a:avLst/>
          </a:prstGeom>
          <a:noFill/>
          <a:ln w="38100" cap="flat" cmpd="sng">
            <a:solidFill>
              <a:srgbClr val="FF6600"/>
            </a:solidFill>
            <a:prstDash val="solid"/>
            <a:miter/>
            <a:headEnd type="none" w="med" len="med"/>
            <a:tailEnd type="none" w="med" len="med"/>
          </a:ln>
        </p:spPr>
        <p:txBody>
          <a:bodyPr wrap="square" anchor="t" anchorCtr="0"/>
          <a:p>
            <a:pPr eaLnBrk="0" hangingPunct="0">
              <a:spcBef>
                <a:spcPct val="50000"/>
              </a:spcBef>
            </a:pPr>
            <a:endParaRPr lang="en-US" altLang="zh-CN" b="1" dirty="0">
              <a:solidFill>
                <a:srgbClr val="000000"/>
              </a:solidFill>
              <a:latin typeface="Times New Roman" panose="02020603050405020304" pitchFamily="18" charset="0"/>
              <a:ea typeface="宋体" panose="02010600030101010101" pitchFamily="2" charset="-122"/>
            </a:endParaRPr>
          </a:p>
          <a:p>
            <a:pPr eaLnBrk="0" hangingPunct="0">
              <a:spcBef>
                <a:spcPct val="50000"/>
              </a:spcBef>
            </a:pPr>
            <a:endParaRPr lang="en-US" altLang="zh-CN" b="1"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文本框 726017"/>
          <p:cNvSpPr txBox="1"/>
          <p:nvPr/>
        </p:nvSpPr>
        <p:spPr>
          <a:xfrm>
            <a:off x="755650" y="765175"/>
            <a:ext cx="7488238" cy="5846763"/>
          </a:xfrm>
          <a:prstGeom prst="rect">
            <a:avLst/>
          </a:prstGeom>
          <a:noFill/>
          <a:ln w="9525">
            <a:noFill/>
          </a:ln>
        </p:spPr>
        <p:txBody>
          <a:bodyPr wrap="square" anchor="t" anchorCtr="0">
            <a:spAutoFit/>
          </a:bodyPr>
          <a:p>
            <a:pPr>
              <a:lnSpc>
                <a:spcPct val="130000"/>
              </a:lnSpc>
            </a:pPr>
            <a:r>
              <a:rPr lang="zh-CN" altLang="en-US" b="1" noProof="1" dirty="0">
                <a:latin typeface="Times New Roman" panose="02020603050405020304" pitchFamily="18" charset="0"/>
                <a:ea typeface="宋体" panose="02010600030101010101" pitchFamily="2" charset="-122"/>
                <a:cs typeface="+mn-cs"/>
              </a:rPr>
              <a:t>　步骤</a:t>
            </a:r>
            <a:r>
              <a:rPr lang="zh-CN" altLang="en-US" noProof="1" dirty="0">
                <a:latin typeface="Times New Roman" panose="02020603050405020304" pitchFamily="18" charset="0"/>
                <a:ea typeface="宋体" panose="02010600030101010101" pitchFamily="2" charset="-122"/>
                <a:cs typeface="+mn-cs"/>
              </a:rPr>
              <a:t>：</a:t>
            </a:r>
            <a:endParaRPr lang="zh-CN" altLang="en-US" noProof="1" dirty="0">
              <a:latin typeface="Times New Roman" panose="02020603050405020304" pitchFamily="18" charset="0"/>
              <a:ea typeface="宋体" panose="02010600030101010101" pitchFamily="2" charset="-122"/>
            </a:endParaRPr>
          </a:p>
          <a:p>
            <a:pPr>
              <a:lnSpc>
                <a:spcPct val="130000"/>
              </a:lnSpc>
            </a:pPr>
            <a:endParaRPr lang="zh-CN" altLang="en-US" noProof="1" dirty="0">
              <a:latin typeface="Times New Roman" panose="02020603050405020304" pitchFamily="18" charset="0"/>
              <a:ea typeface="宋体" panose="02010600030101010101" pitchFamily="2" charset="-122"/>
            </a:endParaRPr>
          </a:p>
          <a:p>
            <a:pPr marL="342900" indent="-342900">
              <a:lnSpc>
                <a:spcPct val="130000"/>
              </a:lnSpc>
              <a:buFont typeface="Arial" panose="020B0604020202020204" pitchFamily="34" charset="0"/>
              <a:buChar char="•"/>
            </a:pPr>
            <a:r>
              <a:rPr lang="zh-CN" altLang="en-US" noProof="1" dirty="0">
                <a:latin typeface="Times New Roman" panose="02020603050405020304" pitchFamily="18" charset="0"/>
                <a:ea typeface="宋体" panose="02010600030101010101" pitchFamily="2" charset="-122"/>
                <a:cs typeface="+mn-cs"/>
                <a:sym typeface="+mn-ea"/>
              </a:rPr>
              <a:t>产生输入信号</a:t>
            </a:r>
            <a:endParaRPr lang="zh-CN" altLang="en-US" noProof="1" dirty="0">
              <a:latin typeface="Times New Roman" panose="02020603050405020304" pitchFamily="18" charset="0"/>
              <a:ea typeface="宋体" panose="02010600030101010101" pitchFamily="2" charset="-122"/>
            </a:endParaRPr>
          </a:p>
          <a:p>
            <a:pPr>
              <a:lnSpc>
                <a:spcPct val="130000"/>
              </a:lnSpc>
            </a:pPr>
            <a:r>
              <a:rPr lang="zh-CN" altLang="en-US" noProof="1" dirty="0">
                <a:latin typeface="Times New Roman" panose="02020603050405020304" pitchFamily="18" charset="0"/>
                <a:ea typeface="宋体" panose="02010600030101010101" pitchFamily="2" charset="-122"/>
                <a:cs typeface="+mn-cs"/>
              </a:rPr>
              <a:t>x1n=[1 1 1 1 1 1 1 1 ];  %产生信号x1(n)=R8(n)</a:t>
            </a:r>
            <a:endParaRPr lang="zh-CN" altLang="en-US" noProof="1" dirty="0">
              <a:latin typeface="Times New Roman" panose="02020603050405020304" pitchFamily="18" charset="0"/>
              <a:ea typeface="宋体" panose="02010600030101010101" pitchFamily="2" charset="-122"/>
            </a:endParaRPr>
          </a:p>
          <a:p>
            <a:pPr>
              <a:lnSpc>
                <a:spcPct val="130000"/>
              </a:lnSpc>
            </a:pPr>
            <a:r>
              <a:rPr lang="zh-CN" altLang="en-US" noProof="1" dirty="0">
                <a:latin typeface="Times New Roman" panose="02020603050405020304" pitchFamily="18" charset="0"/>
                <a:ea typeface="宋体" panose="02010600030101010101" pitchFamily="2" charset="-122"/>
                <a:cs typeface="+mn-cs"/>
              </a:rPr>
              <a:t>h1n=[ones(1,10) zeros(1,10)];</a:t>
            </a:r>
            <a:endParaRPr lang="zh-CN" altLang="en-US" noProof="1" dirty="0">
              <a:latin typeface="Times New Roman" panose="02020603050405020304" pitchFamily="18" charset="0"/>
              <a:ea typeface="宋体" panose="02010600030101010101" pitchFamily="2" charset="-122"/>
            </a:endParaRPr>
          </a:p>
          <a:p>
            <a:pPr>
              <a:lnSpc>
                <a:spcPct val="130000"/>
              </a:lnSpc>
            </a:pPr>
            <a:r>
              <a:rPr lang="zh-CN" altLang="en-US" noProof="1" dirty="0">
                <a:latin typeface="Times New Roman" panose="02020603050405020304" pitchFamily="18" charset="0"/>
                <a:ea typeface="宋体" panose="02010600030101010101" pitchFamily="2" charset="-122"/>
                <a:cs typeface="+mn-cs"/>
              </a:rPr>
              <a:t>h2n=[1 2.5 2.5 1 zeros(1,10)];</a:t>
            </a:r>
            <a:endParaRPr lang="zh-CN" altLang="en-US" noProof="1" dirty="0">
              <a:latin typeface="Times New Roman" panose="02020603050405020304" pitchFamily="18" charset="0"/>
              <a:ea typeface="宋体" panose="02010600030101010101" pitchFamily="2" charset="-122"/>
            </a:endParaRPr>
          </a:p>
          <a:p>
            <a:pPr>
              <a:lnSpc>
                <a:spcPct val="130000"/>
              </a:lnSpc>
            </a:pPr>
            <a:endParaRPr lang="zh-CN" altLang="en-US" noProof="1" dirty="0">
              <a:latin typeface="Times New Roman" panose="02020603050405020304" pitchFamily="18" charset="0"/>
              <a:sym typeface="+mn-ea"/>
            </a:endParaRPr>
          </a:p>
          <a:p>
            <a:pPr marL="342900" indent="-342900">
              <a:lnSpc>
                <a:spcPct val="130000"/>
              </a:lnSpc>
              <a:buFont typeface="Arial" panose="020B0604020202020204" pitchFamily="34" charset="0"/>
              <a:buChar char="•"/>
            </a:pPr>
            <a:r>
              <a:rPr lang="zh-CN" altLang="en-US" noProof="1" dirty="0">
                <a:latin typeface="Times New Roman" panose="02020603050405020304" pitchFamily="18" charset="0"/>
                <a:ea typeface="宋体" panose="02010600030101010101" pitchFamily="2" charset="-122"/>
                <a:cs typeface="+mn-cs"/>
                <a:sym typeface="+mn-ea"/>
              </a:rPr>
              <a:t>利用</a:t>
            </a:r>
            <a:r>
              <a:rPr lang="en-US" altLang="zh-CN" noProof="1" dirty="0">
                <a:latin typeface="Times New Roman" panose="02020603050405020304" pitchFamily="18" charset="0"/>
                <a:ea typeface="宋体" panose="02010600030101010101" pitchFamily="2" charset="-122"/>
                <a:cs typeface="+mn-cs"/>
                <a:sym typeface="+mn-ea"/>
              </a:rPr>
              <a:t>conv</a:t>
            </a:r>
            <a:r>
              <a:rPr lang="zh-CN" altLang="en-US" noProof="1" dirty="0">
                <a:latin typeface="Times New Roman" panose="02020603050405020304" pitchFamily="18" charset="0"/>
                <a:ea typeface="宋体" panose="02010600030101010101" pitchFamily="2" charset="-122"/>
                <a:cs typeface="+mn-cs"/>
                <a:sym typeface="+mn-ea"/>
              </a:rPr>
              <a:t>函数计算线性卷积</a:t>
            </a:r>
            <a:endParaRPr lang="zh-CN" altLang="en-US" noProof="1" dirty="0">
              <a:latin typeface="Times New Roman" panose="02020603050405020304" pitchFamily="18" charset="0"/>
              <a:ea typeface="宋体" panose="02010600030101010101" pitchFamily="2" charset="-122"/>
            </a:endParaRPr>
          </a:p>
          <a:p>
            <a:pPr>
              <a:lnSpc>
                <a:spcPct val="130000"/>
              </a:lnSpc>
            </a:pPr>
            <a:r>
              <a:rPr lang="zh-CN" altLang="en-US" noProof="1" dirty="0">
                <a:latin typeface="Times New Roman" panose="02020603050405020304" pitchFamily="18" charset="0"/>
                <a:ea typeface="宋体" panose="02010600030101010101" pitchFamily="2" charset="-122"/>
                <a:cs typeface="+mn-cs"/>
              </a:rPr>
              <a:t>y21n=conv(h1n,x1n);</a:t>
            </a:r>
            <a:endParaRPr lang="zh-CN" altLang="en-US" noProof="1" dirty="0">
              <a:latin typeface="Times New Roman" panose="02020603050405020304" pitchFamily="18" charset="0"/>
              <a:ea typeface="宋体" panose="02010600030101010101" pitchFamily="2" charset="-122"/>
            </a:endParaRPr>
          </a:p>
          <a:p>
            <a:pPr>
              <a:lnSpc>
                <a:spcPct val="130000"/>
              </a:lnSpc>
            </a:pPr>
            <a:r>
              <a:rPr lang="zh-CN" altLang="en-US" noProof="1" dirty="0">
                <a:latin typeface="Times New Roman" panose="02020603050405020304" pitchFamily="18" charset="0"/>
                <a:ea typeface="宋体" panose="02010600030101010101" pitchFamily="2" charset="-122"/>
                <a:cs typeface="+mn-cs"/>
              </a:rPr>
              <a:t>y22n=conv(h2n,x1n);</a:t>
            </a:r>
            <a:endParaRPr lang="zh-CN" altLang="en-US" noProof="1" dirty="0">
              <a:latin typeface="Times New Roman" panose="02020603050405020304" pitchFamily="18" charset="0"/>
              <a:ea typeface="宋体" panose="02010600030101010101" pitchFamily="2" charset="-122"/>
            </a:endParaRPr>
          </a:p>
          <a:p>
            <a:pPr>
              <a:lnSpc>
                <a:spcPct val="130000"/>
              </a:lnSpc>
            </a:pPr>
            <a:endParaRPr lang="zh-CN" altLang="en-US" noProof="1" dirty="0">
              <a:latin typeface="Times New Roman" panose="02020603050405020304" pitchFamily="18" charset="0"/>
              <a:ea typeface="宋体" panose="02010600030101010101" pitchFamily="2" charset="-122"/>
            </a:endParaRPr>
          </a:p>
          <a:p>
            <a:pPr>
              <a:lnSpc>
                <a:spcPct val="130000"/>
              </a:lnSpc>
            </a:pPr>
            <a:endParaRPr lang="zh-CN" altLang="en-US" noProof="1" dirty="0">
              <a:latin typeface="Times New Roman" panose="02020603050405020304" pitchFamily="18"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文本框 726017"/>
          <p:cNvSpPr txBox="1"/>
          <p:nvPr/>
        </p:nvSpPr>
        <p:spPr>
          <a:xfrm>
            <a:off x="755650" y="765175"/>
            <a:ext cx="7488238" cy="1050925"/>
          </a:xfrm>
          <a:prstGeom prst="rect">
            <a:avLst/>
          </a:prstGeom>
          <a:noFill/>
          <a:ln w="9525">
            <a:noFill/>
          </a:ln>
        </p:spPr>
        <p:txBody>
          <a:bodyPr wrap="square" anchor="t" anchorCtr="0">
            <a:spAutoFit/>
          </a:bodyPr>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p:txBody>
      </p:sp>
      <p:pic>
        <p:nvPicPr>
          <p:cNvPr id="21506" name="图片 1"/>
          <p:cNvPicPr>
            <a:picLocks noChangeAspect="1"/>
          </p:cNvPicPr>
          <p:nvPr/>
        </p:nvPicPr>
        <p:blipFill>
          <a:blip r:embed="rId1"/>
          <a:stretch>
            <a:fillRect/>
          </a:stretch>
        </p:blipFill>
        <p:spPr>
          <a:xfrm>
            <a:off x="1187450" y="1052513"/>
            <a:ext cx="7081838" cy="5108575"/>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文本框 721921"/>
          <p:cNvSpPr txBox="1"/>
          <p:nvPr/>
        </p:nvSpPr>
        <p:spPr>
          <a:xfrm>
            <a:off x="755650" y="692150"/>
            <a:ext cx="7850188" cy="5213350"/>
          </a:xfrm>
          <a:prstGeom prst="rect">
            <a:avLst/>
          </a:prstGeom>
          <a:noFill/>
          <a:ln w="9525">
            <a:noFill/>
          </a:ln>
        </p:spPr>
        <p:txBody>
          <a:bodyPr anchor="t" anchorCtr="0">
            <a:spAutoFit/>
          </a:bodyPr>
          <a:p>
            <a:pPr algn="ctr">
              <a:lnSpc>
                <a:spcPct val="160000"/>
              </a:lnSpc>
            </a:pP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宋体" panose="02010600030101010101" pitchFamily="2" charset="-122"/>
              </a:rPr>
              <a:t>实验一</a:t>
            </a: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宋体" panose="02010600030101010101" pitchFamily="2" charset="-122"/>
              </a:rPr>
              <a:t>时域采样和频域采样</a:t>
            </a:r>
            <a:endParaRPr lang="zh-CN" altLang="en-US" sz="3200" b="1" dirty="0">
              <a:latin typeface="Times New Roman" panose="02020603050405020304" pitchFamily="18" charset="0"/>
              <a:ea typeface="宋体" panose="02010600030101010101" pitchFamily="2" charset="-122"/>
            </a:endParaRPr>
          </a:p>
          <a:p>
            <a:pPr algn="ctr">
              <a:lnSpc>
                <a:spcPct val="160000"/>
              </a:lnSpc>
            </a:pPr>
            <a:r>
              <a:rPr lang="zh-CN" altLang="en-US" sz="3200" b="1" dirty="0">
                <a:latin typeface="Times New Roman" panose="02020603050405020304" pitchFamily="18" charset="0"/>
                <a:ea typeface="宋体" panose="02010600030101010101" pitchFamily="2" charset="-122"/>
              </a:rPr>
              <a:t>（</a:t>
            </a:r>
            <a:r>
              <a:rPr lang="en-US" altLang="zh-CN" sz="3200" b="1" dirty="0">
                <a:latin typeface="Times New Roman" panose="02020603050405020304" pitchFamily="18" charset="0"/>
                <a:ea typeface="宋体" panose="02010600030101010101" pitchFamily="2" charset="-122"/>
              </a:rPr>
              <a:t>a</a:t>
            </a:r>
            <a:r>
              <a:rPr lang="zh-CN" altLang="en-US" sz="3200" b="1" dirty="0">
                <a:latin typeface="Times New Roman" panose="02020603050405020304" pitchFamily="18" charset="0"/>
                <a:ea typeface="宋体" panose="02010600030101010101" pitchFamily="2" charset="-122"/>
              </a:rPr>
              <a:t>）时域采样</a:t>
            </a:r>
            <a:endParaRPr lang="zh-CN" altLang="en-US" sz="3200" b="1" dirty="0">
              <a:latin typeface="Times New Roman" panose="02020603050405020304" pitchFamily="18" charset="0"/>
              <a:ea typeface="宋体" panose="02010600030101010101" pitchFamily="2" charset="-122"/>
            </a:endParaRPr>
          </a:p>
          <a:p>
            <a:pPr>
              <a:lnSpc>
                <a:spcPct val="160000"/>
              </a:lnSpc>
            </a:pPr>
            <a:r>
              <a:rPr lang="zh-CN" altLang="en-US"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1.  </a:t>
            </a:r>
            <a:r>
              <a:rPr lang="zh-CN" altLang="en-US" b="1" dirty="0">
                <a:latin typeface="Times New Roman" panose="02020603050405020304" pitchFamily="18" charset="0"/>
                <a:ea typeface="宋体" panose="02010600030101010101" pitchFamily="2" charset="-122"/>
              </a:rPr>
              <a:t>实验目的</a:t>
            </a:r>
            <a:endParaRPr lang="zh-CN" altLang="en-US" b="1" dirty="0">
              <a:latin typeface="Times New Roman" panose="02020603050405020304" pitchFamily="18" charset="0"/>
              <a:ea typeface="宋体" panose="02010600030101010101" pitchFamily="2" charset="-122"/>
            </a:endParaRPr>
          </a:p>
          <a:p>
            <a:pPr>
              <a:lnSpc>
                <a:spcPct val="160000"/>
              </a:lnSpc>
            </a:pPr>
            <a:r>
              <a:rPr lang="zh-CN" altLang="en-US" dirty="0">
                <a:latin typeface="Times New Roman" panose="02020603050405020304" pitchFamily="18" charset="0"/>
                <a:ea typeface="宋体" panose="02010600030101010101" pitchFamily="2" charset="-122"/>
              </a:rPr>
              <a:t>　　</a:t>
            </a:r>
            <a:r>
              <a:rPr lang="zh-CN" altLang="zh-CN" dirty="0">
                <a:latin typeface="Arial" panose="020B0604020202020204" pitchFamily="34" charset="0"/>
                <a:ea typeface="宋体" panose="02010600030101010101" pitchFamily="2" charset="-122"/>
              </a:rPr>
              <a:t>时域采样理论与频域采样理论是数字信号处理中的重要理论。要求掌握模拟信号采样前后频谱的变化，以及如何选择采样频率才能使采样后的信号不丢失信息；要求掌握频率域采样会引起时域周期化的概念，以及频率域采样定理及其对频域采样点数选择的指导作用。</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553" name="组合 720901"/>
          <p:cNvGrpSpPr/>
          <p:nvPr/>
        </p:nvGrpSpPr>
        <p:grpSpPr>
          <a:xfrm>
            <a:off x="755650" y="765175"/>
            <a:ext cx="7561263" cy="4306888"/>
            <a:chOff x="476" y="482"/>
            <a:chExt cx="4763" cy="2713"/>
          </a:xfrm>
        </p:grpSpPr>
        <p:sp>
          <p:nvSpPr>
            <p:cNvPr id="23554" name="文本框 720897"/>
            <p:cNvSpPr txBox="1"/>
            <p:nvPr/>
          </p:nvSpPr>
          <p:spPr>
            <a:xfrm>
              <a:off x="476" y="482"/>
              <a:ext cx="4763" cy="2176"/>
            </a:xfrm>
            <a:prstGeom prst="rect">
              <a:avLst/>
            </a:prstGeom>
            <a:noFill/>
            <a:ln w="9525">
              <a:noFill/>
            </a:ln>
          </p:spPr>
          <p:txBody>
            <a:bodyPr anchor="t" anchorCtr="0">
              <a:spAutoFit/>
            </a:bodyPr>
            <a:p>
              <a:pPr>
                <a:lnSpc>
                  <a:spcPct val="130000"/>
                </a:lnSpc>
              </a:pPr>
              <a:r>
                <a:rPr lang="zh-CN" altLang="en-US"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2.  </a:t>
              </a:r>
              <a:r>
                <a:rPr lang="zh-CN" altLang="en-US" b="1" dirty="0">
                  <a:latin typeface="Times New Roman" panose="02020603050405020304" pitchFamily="18" charset="0"/>
                  <a:ea typeface="宋体" panose="02010600030101010101" pitchFamily="2" charset="-122"/>
                </a:rPr>
                <a:t>实验原理与方法</a:t>
              </a:r>
              <a:endParaRPr lang="zh-CN" altLang="en-US" b="1" dirty="0">
                <a:latin typeface="Times New Roman" panose="02020603050405020304" pitchFamily="18" charset="0"/>
                <a:ea typeface="宋体" panose="02010600030101010101" pitchFamily="2" charset="-122"/>
              </a:endParaRPr>
            </a:p>
            <a:p>
              <a:pPr>
                <a:lnSpc>
                  <a:spcPct val="150000"/>
                </a:lnSpc>
              </a:pPr>
              <a:r>
                <a:rPr lang="zh-CN" altLang="en-US" dirty="0">
                  <a:latin typeface="Times New Roman" panose="02020603050405020304" pitchFamily="18" charset="0"/>
                  <a:ea typeface="宋体" panose="02010600030101010101" pitchFamily="2" charset="-122"/>
                </a:rPr>
                <a:t>　　时域采样定理的要点是： </a:t>
              </a:r>
              <a:endParaRPr lang="zh-CN" altLang="en-US" dirty="0">
                <a:latin typeface="Times New Roman" panose="02020603050405020304" pitchFamily="18" charset="0"/>
                <a:ea typeface="宋体" panose="02010600030101010101" pitchFamily="2" charset="-122"/>
              </a:endParaRPr>
            </a:p>
            <a:p>
              <a:pPr>
                <a:lnSpc>
                  <a:spcPct val="17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① </a:t>
              </a:r>
              <a:r>
                <a:rPr lang="zh-CN" altLang="en-US" dirty="0">
                  <a:latin typeface="Times New Roman" panose="02020603050405020304" pitchFamily="18" charset="0"/>
                  <a:ea typeface="宋体" panose="02010600030101010101" pitchFamily="2" charset="-122"/>
                </a:rPr>
                <a:t>对模拟信号</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以</a:t>
              </a:r>
              <a:r>
                <a:rPr lang="en-US" altLang="zh-CN" i="1" dirty="0">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进行时域等间隔理想采样，形成的采样信号的频谱　　　会以采样角频率</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=2π/</a:t>
              </a:r>
              <a:r>
                <a:rPr lang="en-US" altLang="zh-CN" i="1" dirty="0">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）为周期进行周期延拓。公式为</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p:txBody>
        </p:sp>
        <p:graphicFrame>
          <p:nvGraphicFramePr>
            <p:cNvPr id="23555" name="对象 720898"/>
            <p:cNvGraphicFramePr/>
            <p:nvPr/>
          </p:nvGraphicFramePr>
          <p:xfrm>
            <a:off x="2472" y="1661"/>
            <a:ext cx="559" cy="278"/>
          </p:xfrm>
          <a:graphic>
            <a:graphicData uri="http://schemas.openxmlformats.org/presentationml/2006/ole">
              <mc:AlternateContent xmlns:mc="http://schemas.openxmlformats.org/markup-compatibility/2006">
                <mc:Choice xmlns:v="urn:schemas-microsoft-com:vml" Requires="v">
                  <p:oleObj spid="_x0000_s3086" name="" r:id="rId1" imgW="482600" imgH="241300" progId="Equation.DSMT4">
                    <p:embed/>
                  </p:oleObj>
                </mc:Choice>
                <mc:Fallback>
                  <p:oleObj name="" r:id="rId1" imgW="482600" imgH="241300" progId="Equation.DSMT4">
                    <p:embed/>
                    <p:pic>
                      <p:nvPicPr>
                        <p:cNvPr id="0" name="图片 3085"/>
                        <p:cNvPicPr/>
                        <p:nvPr/>
                      </p:nvPicPr>
                      <p:blipFill>
                        <a:blip r:embed="rId2"/>
                        <a:stretch>
                          <a:fillRect/>
                        </a:stretch>
                      </p:blipFill>
                      <p:spPr>
                        <a:xfrm>
                          <a:off x="2472" y="1661"/>
                          <a:ext cx="559" cy="278"/>
                        </a:xfrm>
                        <a:prstGeom prst="rect">
                          <a:avLst/>
                        </a:prstGeom>
                        <a:noFill/>
                        <a:ln w="38100">
                          <a:noFill/>
                          <a:miter/>
                        </a:ln>
                      </p:spPr>
                    </p:pic>
                  </p:oleObj>
                </mc:Fallback>
              </mc:AlternateContent>
            </a:graphicData>
          </a:graphic>
        </p:graphicFrame>
        <p:graphicFrame>
          <p:nvGraphicFramePr>
            <p:cNvPr id="23556" name="对象 720899"/>
            <p:cNvGraphicFramePr/>
            <p:nvPr/>
          </p:nvGraphicFramePr>
          <p:xfrm>
            <a:off x="793" y="2568"/>
            <a:ext cx="3939" cy="627"/>
          </p:xfrm>
          <a:graphic>
            <a:graphicData uri="http://schemas.openxmlformats.org/presentationml/2006/ole">
              <mc:AlternateContent xmlns:mc="http://schemas.openxmlformats.org/markup-compatibility/2006">
                <mc:Choice xmlns:v="urn:schemas-microsoft-com:vml" Requires="v">
                  <p:oleObj spid="_x0000_s3085" name="" r:id="rId3" imgW="2741930" imgH="431800" progId="Equation.DSMT4">
                    <p:embed/>
                  </p:oleObj>
                </mc:Choice>
                <mc:Fallback>
                  <p:oleObj name="" r:id="rId3" imgW="2741930" imgH="431800" progId="Equation.DSMT4">
                    <p:embed/>
                    <p:pic>
                      <p:nvPicPr>
                        <p:cNvPr id="0" name="图片 3084"/>
                        <p:cNvPicPr/>
                        <p:nvPr/>
                      </p:nvPicPr>
                      <p:blipFill>
                        <a:blip r:embed="rId4"/>
                        <a:stretch>
                          <a:fillRect/>
                        </a:stretch>
                      </p:blipFill>
                      <p:spPr>
                        <a:xfrm>
                          <a:off x="793" y="2568"/>
                          <a:ext cx="3939" cy="627"/>
                        </a:xfrm>
                        <a:prstGeom prst="rect">
                          <a:avLst/>
                        </a:prstGeom>
                        <a:noFill/>
                        <a:ln w="38100">
                          <a:noFill/>
                          <a:miter/>
                        </a:ln>
                      </p:spPr>
                    </p:pic>
                  </p:oleObj>
                </mc:Fallback>
              </mc:AlternateContent>
            </a:graphicData>
          </a:graphic>
        </p:graphicFrame>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4577" name="组合 719877"/>
          <p:cNvGrpSpPr/>
          <p:nvPr/>
        </p:nvGrpSpPr>
        <p:grpSpPr>
          <a:xfrm>
            <a:off x="755650" y="836613"/>
            <a:ext cx="7488238" cy="4365625"/>
            <a:chOff x="476" y="527"/>
            <a:chExt cx="4717" cy="2750"/>
          </a:xfrm>
        </p:grpSpPr>
        <p:sp>
          <p:nvSpPr>
            <p:cNvPr id="24578" name="文本框 719874"/>
            <p:cNvSpPr txBox="1"/>
            <p:nvPr/>
          </p:nvSpPr>
          <p:spPr>
            <a:xfrm>
              <a:off x="476" y="527"/>
              <a:ext cx="4717" cy="2750"/>
            </a:xfrm>
            <a:prstGeom prst="rect">
              <a:avLst/>
            </a:prstGeom>
            <a:noFill/>
            <a:ln w="9525">
              <a:noFill/>
            </a:ln>
          </p:spPr>
          <p:txBody>
            <a:bodyPr anchor="t" anchorCtr="0">
              <a:spAutoFit/>
            </a:bodyPr>
            <a:p>
              <a:pPr>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② </a:t>
              </a:r>
              <a:r>
                <a:rPr lang="zh-CN" altLang="en-US" dirty="0">
                  <a:latin typeface="Times New Roman" panose="02020603050405020304" pitchFamily="18" charset="0"/>
                  <a:ea typeface="宋体" panose="02010600030101010101" pitchFamily="2" charset="-122"/>
                </a:rPr>
                <a:t>采样频率</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必须大于等于模拟信号最高频率的两倍以上，才能使采样信号的频谱不产生频谱混叠。</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利用计算机计算上式并不方便，下面我们导出另外一个公式，以便在计算机上进行实验。</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理想采样信号　　　和模拟信号</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之间的关系为</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对上式进行傅里叶变换，得到： </a:t>
              </a:r>
              <a:endParaRPr lang="zh-CN" altLang="en-US" dirty="0">
                <a:latin typeface="Times New Roman" panose="02020603050405020304" pitchFamily="18" charset="0"/>
                <a:ea typeface="宋体" panose="02010600030101010101" pitchFamily="2" charset="-122"/>
              </a:endParaRPr>
            </a:p>
          </p:txBody>
        </p:sp>
        <p:graphicFrame>
          <p:nvGraphicFramePr>
            <p:cNvPr id="24579" name="对象 719875"/>
            <p:cNvGraphicFramePr/>
            <p:nvPr/>
          </p:nvGraphicFramePr>
          <p:xfrm>
            <a:off x="2154" y="1797"/>
            <a:ext cx="472" cy="325"/>
          </p:xfrm>
          <a:graphic>
            <a:graphicData uri="http://schemas.openxmlformats.org/presentationml/2006/ole">
              <mc:AlternateContent xmlns:mc="http://schemas.openxmlformats.org/markup-compatibility/2006">
                <mc:Choice xmlns:v="urn:schemas-microsoft-com:vml" Requires="v">
                  <p:oleObj spid="_x0000_s3083" name="" r:id="rId1" imgW="330200" imgH="228600" progId="Equation.DSMT4">
                    <p:embed/>
                  </p:oleObj>
                </mc:Choice>
                <mc:Fallback>
                  <p:oleObj name="" r:id="rId1" imgW="330200" imgH="228600" progId="Equation.DSMT4">
                    <p:embed/>
                    <p:pic>
                      <p:nvPicPr>
                        <p:cNvPr id="0" name="图片 3082"/>
                        <p:cNvPicPr/>
                        <p:nvPr/>
                      </p:nvPicPr>
                      <p:blipFill>
                        <a:blip r:embed="rId2"/>
                        <a:stretch>
                          <a:fillRect/>
                        </a:stretch>
                      </p:blipFill>
                      <p:spPr>
                        <a:xfrm>
                          <a:off x="2154" y="1797"/>
                          <a:ext cx="472" cy="325"/>
                        </a:xfrm>
                        <a:prstGeom prst="rect">
                          <a:avLst/>
                        </a:prstGeom>
                        <a:noFill/>
                        <a:ln w="38100">
                          <a:noFill/>
                          <a:miter/>
                        </a:ln>
                      </p:spPr>
                    </p:pic>
                  </p:oleObj>
                </mc:Fallback>
              </mc:AlternateContent>
            </a:graphicData>
          </a:graphic>
        </p:graphicFrame>
        <p:graphicFrame>
          <p:nvGraphicFramePr>
            <p:cNvPr id="24580" name="对象 719876"/>
            <p:cNvGraphicFramePr/>
            <p:nvPr/>
          </p:nvGraphicFramePr>
          <p:xfrm>
            <a:off x="1837" y="2205"/>
            <a:ext cx="2159" cy="588"/>
          </p:xfrm>
          <a:graphic>
            <a:graphicData uri="http://schemas.openxmlformats.org/presentationml/2006/ole">
              <mc:AlternateContent xmlns:mc="http://schemas.openxmlformats.org/markup-compatibility/2006">
                <mc:Choice xmlns:v="urn:schemas-microsoft-com:vml" Requires="v">
                  <p:oleObj spid="_x0000_s3084" name="" r:id="rId3" imgW="1574800" imgH="431800" progId="Equation.DSMT4">
                    <p:embed/>
                  </p:oleObj>
                </mc:Choice>
                <mc:Fallback>
                  <p:oleObj name="" r:id="rId3" imgW="1574800" imgH="431800" progId="Equation.DSMT4">
                    <p:embed/>
                    <p:pic>
                      <p:nvPicPr>
                        <p:cNvPr id="0" name="图片 3083"/>
                        <p:cNvPicPr/>
                        <p:nvPr/>
                      </p:nvPicPr>
                      <p:blipFill>
                        <a:blip r:embed="rId4"/>
                        <a:stretch>
                          <a:fillRect/>
                        </a:stretch>
                      </p:blipFill>
                      <p:spPr>
                        <a:xfrm>
                          <a:off x="1837" y="2205"/>
                          <a:ext cx="2159" cy="588"/>
                        </a:xfrm>
                        <a:prstGeom prst="rect">
                          <a:avLst/>
                        </a:prstGeom>
                        <a:noFill/>
                        <a:ln w="38100">
                          <a:noFill/>
                          <a:miter/>
                        </a:ln>
                      </p:spPr>
                    </p:pic>
                  </p:oleObj>
                </mc:Fallback>
              </mc:AlternateContent>
            </a:graphicData>
          </a:graphic>
        </p:graphicFrame>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文本框 717825"/>
          <p:cNvSpPr txBox="1"/>
          <p:nvPr/>
        </p:nvSpPr>
        <p:spPr>
          <a:xfrm>
            <a:off x="382588" y="2349500"/>
            <a:ext cx="7848600" cy="3448050"/>
          </a:xfrm>
          <a:prstGeom prst="rect">
            <a:avLst/>
          </a:prstGeom>
          <a:noFill/>
          <a:ln w="9525">
            <a:noFill/>
          </a:ln>
        </p:spPr>
        <p:txBody>
          <a:bodyPr anchor="t" anchorCtr="0">
            <a:spAutoFit/>
          </a:bodyPr>
          <a:p>
            <a:pPr>
              <a:lnSpc>
                <a:spcPct val="130000"/>
              </a:lnSpc>
            </a:pPr>
            <a:r>
              <a:rPr lang="zh-CN" altLang="en-US" dirty="0">
                <a:latin typeface="Times New Roman" panose="02020603050405020304" pitchFamily="18" charset="0"/>
                <a:ea typeface="宋体" panose="02010600030101010101" pitchFamily="2" charset="-122"/>
              </a:rPr>
              <a:t>上式的积分号内，只有当</a:t>
            </a:r>
            <a:r>
              <a:rPr lang="en-US" altLang="zh-CN" i="1" dirty="0">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nT</a:t>
            </a:r>
            <a:r>
              <a:rPr lang="zh-CN" altLang="en-US" dirty="0">
                <a:latin typeface="Times New Roman" panose="02020603050405020304" pitchFamily="18" charset="0"/>
                <a:ea typeface="宋体" panose="02010600030101010101" pitchFamily="2" charset="-122"/>
              </a:rPr>
              <a:t>时，才有非零值。因此：</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在数值上</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，再将</a:t>
            </a:r>
            <a:r>
              <a:rPr lang="en-US" altLang="zh-CN" i="1"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ΩT</a:t>
            </a:r>
            <a:r>
              <a:rPr lang="zh-CN" altLang="en-US" dirty="0">
                <a:latin typeface="Times New Roman" panose="02020603050405020304" pitchFamily="18" charset="0"/>
                <a:ea typeface="宋体" panose="02010600030101010101" pitchFamily="2" charset="-122"/>
              </a:rPr>
              <a:t>代入，得到： </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上式的右边就是序列的傅里叶变换</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a:t>
            </a:r>
            <a:r>
              <a:rPr lang="en-US" altLang="zh-CN" i="1" baseline="30000"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DTFT</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pSp>
        <p:nvGrpSpPr>
          <p:cNvPr id="25602" name="组合 717832"/>
          <p:cNvGrpSpPr/>
          <p:nvPr/>
        </p:nvGrpSpPr>
        <p:grpSpPr>
          <a:xfrm>
            <a:off x="1763713" y="547688"/>
            <a:ext cx="5486400" cy="5894387"/>
            <a:chOff x="1175" y="638"/>
            <a:chExt cx="3456" cy="3713"/>
          </a:xfrm>
        </p:grpSpPr>
        <p:graphicFrame>
          <p:nvGraphicFramePr>
            <p:cNvPr id="25603" name="对象 717826"/>
            <p:cNvGraphicFramePr/>
            <p:nvPr/>
          </p:nvGraphicFramePr>
          <p:xfrm>
            <a:off x="1175" y="638"/>
            <a:ext cx="3456" cy="605"/>
          </p:xfrm>
          <a:graphic>
            <a:graphicData uri="http://schemas.openxmlformats.org/presentationml/2006/ole">
              <mc:AlternateContent xmlns:mc="http://schemas.openxmlformats.org/markup-compatibility/2006">
                <mc:Choice xmlns:v="urn:schemas-microsoft-com:vml" Requires="v">
                  <p:oleObj spid="_x0000_s3087" name="" r:id="rId1" imgW="2451100" imgH="431800" progId="Equation.DSMT4">
                    <p:embed/>
                  </p:oleObj>
                </mc:Choice>
                <mc:Fallback>
                  <p:oleObj name="" r:id="rId1" imgW="2451100" imgH="431800" progId="Equation.DSMT4">
                    <p:embed/>
                    <p:pic>
                      <p:nvPicPr>
                        <p:cNvPr id="0" name="图片 3086"/>
                        <p:cNvPicPr/>
                        <p:nvPr/>
                      </p:nvPicPr>
                      <p:blipFill>
                        <a:blip r:embed="rId2"/>
                        <a:stretch>
                          <a:fillRect/>
                        </a:stretch>
                      </p:blipFill>
                      <p:spPr>
                        <a:xfrm>
                          <a:off x="1175" y="638"/>
                          <a:ext cx="3456" cy="605"/>
                        </a:xfrm>
                        <a:prstGeom prst="rect">
                          <a:avLst/>
                        </a:prstGeom>
                        <a:noFill/>
                        <a:ln w="38100">
                          <a:noFill/>
                          <a:miter/>
                        </a:ln>
                      </p:spPr>
                    </p:pic>
                  </p:oleObj>
                </mc:Fallback>
              </mc:AlternateContent>
            </a:graphicData>
          </a:graphic>
        </p:graphicFrame>
        <p:graphicFrame>
          <p:nvGraphicFramePr>
            <p:cNvPr id="25604" name="对象 717827"/>
            <p:cNvGraphicFramePr/>
            <p:nvPr/>
          </p:nvGraphicFramePr>
          <p:xfrm>
            <a:off x="1266" y="1137"/>
            <a:ext cx="3023" cy="559"/>
          </p:xfrm>
          <a:graphic>
            <a:graphicData uri="http://schemas.openxmlformats.org/presentationml/2006/ole">
              <mc:AlternateContent xmlns:mc="http://schemas.openxmlformats.org/markup-compatibility/2006">
                <mc:Choice xmlns:v="urn:schemas-microsoft-com:vml" Requires="v">
                  <p:oleObj spid="_x0000_s3081" name="" r:id="rId3" imgW="2324100" imgH="431800" progId="Equation.DSMT4">
                    <p:embed/>
                  </p:oleObj>
                </mc:Choice>
                <mc:Fallback>
                  <p:oleObj name="" r:id="rId3" imgW="2324100" imgH="431800" progId="Equation.DSMT4">
                    <p:embed/>
                    <p:pic>
                      <p:nvPicPr>
                        <p:cNvPr id="0" name="图片 3080"/>
                        <p:cNvPicPr/>
                        <p:nvPr/>
                      </p:nvPicPr>
                      <p:blipFill>
                        <a:blip r:embed="rId4"/>
                        <a:stretch>
                          <a:fillRect/>
                        </a:stretch>
                      </p:blipFill>
                      <p:spPr>
                        <a:xfrm>
                          <a:off x="1266" y="1137"/>
                          <a:ext cx="3023" cy="559"/>
                        </a:xfrm>
                        <a:prstGeom prst="rect">
                          <a:avLst/>
                        </a:prstGeom>
                        <a:noFill/>
                        <a:ln w="38100">
                          <a:noFill/>
                          <a:miter/>
                        </a:ln>
                      </p:spPr>
                    </p:pic>
                  </p:oleObj>
                </mc:Fallback>
              </mc:AlternateContent>
            </a:graphicData>
          </a:graphic>
        </p:graphicFrame>
        <p:graphicFrame>
          <p:nvGraphicFramePr>
            <p:cNvPr id="25605" name="对象 717828"/>
            <p:cNvGraphicFramePr/>
            <p:nvPr/>
          </p:nvGraphicFramePr>
          <p:xfrm>
            <a:off x="1991" y="3950"/>
            <a:ext cx="1934" cy="401"/>
          </p:xfrm>
          <a:graphic>
            <a:graphicData uri="http://schemas.openxmlformats.org/presentationml/2006/ole">
              <mc:AlternateContent xmlns:mc="http://schemas.openxmlformats.org/markup-compatibility/2006">
                <mc:Choice xmlns:v="urn:schemas-microsoft-com:vml" Requires="v">
                  <p:oleObj spid="_x0000_s3082" name="" r:id="rId5" imgW="1422400" imgH="254000" progId="Equation.DSMT4">
                    <p:embed/>
                  </p:oleObj>
                </mc:Choice>
                <mc:Fallback>
                  <p:oleObj name="" r:id="rId5" imgW="1422400" imgH="254000" progId="Equation.DSMT4">
                    <p:embed/>
                    <p:pic>
                      <p:nvPicPr>
                        <p:cNvPr id="0" name="图片 3081"/>
                        <p:cNvPicPr/>
                        <p:nvPr/>
                      </p:nvPicPr>
                      <p:blipFill>
                        <a:blip r:embed="rId6"/>
                        <a:stretch>
                          <a:fillRect/>
                        </a:stretch>
                      </p:blipFill>
                      <p:spPr>
                        <a:xfrm>
                          <a:off x="1991" y="3950"/>
                          <a:ext cx="1934" cy="401"/>
                        </a:xfrm>
                        <a:prstGeom prst="rect">
                          <a:avLst/>
                        </a:prstGeom>
                        <a:noFill/>
                        <a:ln w="38100">
                          <a:noFill/>
                          <a:miter/>
                        </a:ln>
                      </p:spPr>
                    </p:pic>
                  </p:oleObj>
                </mc:Fallback>
              </mc:AlternateContent>
            </a:graphicData>
          </a:graphic>
        </p:graphicFrame>
        <p:graphicFrame>
          <p:nvGraphicFramePr>
            <p:cNvPr id="25606" name="对象 717831"/>
            <p:cNvGraphicFramePr/>
            <p:nvPr/>
          </p:nvGraphicFramePr>
          <p:xfrm>
            <a:off x="1908" y="2984"/>
            <a:ext cx="2171" cy="632"/>
          </p:xfrm>
          <a:graphic>
            <a:graphicData uri="http://schemas.openxmlformats.org/presentationml/2006/ole">
              <mc:AlternateContent xmlns:mc="http://schemas.openxmlformats.org/markup-compatibility/2006">
                <mc:Choice xmlns:v="urn:schemas-microsoft-com:vml" Requires="v">
                  <p:oleObj spid="_x0000_s3076" name="" r:id="rId7" imgW="1485900" imgH="431800" progId="Equation.DSMT4">
                    <p:embed/>
                  </p:oleObj>
                </mc:Choice>
                <mc:Fallback>
                  <p:oleObj name="" r:id="rId7" imgW="1485900" imgH="431800" progId="Equation.DSMT4">
                    <p:embed/>
                    <p:pic>
                      <p:nvPicPr>
                        <p:cNvPr id="0" name="图片 3075"/>
                        <p:cNvPicPr/>
                        <p:nvPr/>
                      </p:nvPicPr>
                      <p:blipFill>
                        <a:blip r:embed="rId8"/>
                        <a:stretch>
                          <a:fillRect/>
                        </a:stretch>
                      </p:blipFill>
                      <p:spPr>
                        <a:xfrm>
                          <a:off x="1908" y="2984"/>
                          <a:ext cx="2171" cy="632"/>
                        </a:xfrm>
                        <a:prstGeom prst="rect">
                          <a:avLst/>
                        </a:prstGeom>
                        <a:noFill/>
                        <a:ln w="38100">
                          <a:noFill/>
                          <a:miter/>
                        </a:ln>
                      </p:spPr>
                    </p:pic>
                  </p:oleObj>
                </mc:Fallback>
              </mc:AlternateContent>
            </a:graphicData>
          </a:graphic>
        </p:graphicFrame>
      </p:grpSp>
      <p:graphicFrame>
        <p:nvGraphicFramePr>
          <p:cNvPr id="25607" name="对象 717826"/>
          <p:cNvGraphicFramePr/>
          <p:nvPr/>
        </p:nvGraphicFramePr>
        <p:xfrm>
          <a:off x="2954338" y="2852738"/>
          <a:ext cx="3752850" cy="960437"/>
        </p:xfrm>
        <a:graphic>
          <a:graphicData uri="http://schemas.openxmlformats.org/presentationml/2006/ole">
            <mc:AlternateContent xmlns:mc="http://schemas.openxmlformats.org/markup-compatibility/2006">
              <mc:Choice xmlns:v="urn:schemas-microsoft-com:vml" Requires="v">
                <p:oleObj spid="_x0000_s3093" name="" r:id="rId9" imgW="1676400" imgH="431800" progId="Equation.DSMT4">
                  <p:embed/>
                </p:oleObj>
              </mc:Choice>
              <mc:Fallback>
                <p:oleObj name="" r:id="rId9" imgW="1676400" imgH="431800" progId="Equation.DSMT4">
                  <p:embed/>
                  <p:pic>
                    <p:nvPicPr>
                      <p:cNvPr id="0" name="图片 3092"/>
                      <p:cNvPicPr/>
                      <p:nvPr/>
                    </p:nvPicPr>
                    <p:blipFill>
                      <a:blip r:embed="rId10"/>
                      <a:stretch>
                        <a:fillRect/>
                      </a:stretch>
                    </p:blipFill>
                    <p:spPr>
                      <a:xfrm>
                        <a:off x="2954338" y="2852738"/>
                        <a:ext cx="3752850" cy="960437"/>
                      </a:xfrm>
                      <a:prstGeom prst="rect">
                        <a:avLst/>
                      </a:prstGeom>
                      <a:noFill/>
                      <a:ln w="38100">
                        <a:noFill/>
                        <a:miter/>
                      </a:ln>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5" name="组合 791553"/>
          <p:cNvGrpSpPr/>
          <p:nvPr/>
        </p:nvGrpSpPr>
        <p:grpSpPr>
          <a:xfrm>
            <a:off x="611188" y="620713"/>
            <a:ext cx="7993062" cy="5511800"/>
            <a:chOff x="385" y="391"/>
            <a:chExt cx="5035" cy="3472"/>
          </a:xfrm>
        </p:grpSpPr>
        <p:sp>
          <p:nvSpPr>
            <p:cNvPr id="26626" name="文本框 791554"/>
            <p:cNvSpPr txBox="1"/>
            <p:nvPr/>
          </p:nvSpPr>
          <p:spPr>
            <a:xfrm>
              <a:off x="385" y="391"/>
              <a:ext cx="5035" cy="2776"/>
            </a:xfrm>
            <a:prstGeom prst="rect">
              <a:avLst/>
            </a:prstGeom>
            <a:noFill/>
            <a:ln w="9525">
              <a:noFill/>
            </a:ln>
          </p:spPr>
          <p:txBody>
            <a:bodyPr anchor="t" anchorCtr="0">
              <a:spAutoFit/>
            </a:bodyPr>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上式说明理想采样信号的傅里叶变换可用相应的采样序列的傅里叶变换得到，只要将自变量</a:t>
              </a:r>
              <a:r>
                <a:rPr lang="en-US" altLang="zh-CN" i="1"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用</a:t>
              </a:r>
              <a:r>
                <a:rPr lang="en-US" altLang="zh-CN" i="1" dirty="0">
                  <a:latin typeface="Times New Roman" panose="02020603050405020304" pitchFamily="18" charset="0"/>
                  <a:ea typeface="宋体" panose="02010600030101010101" pitchFamily="2" charset="-122"/>
                </a:rPr>
                <a:t>ΩT</a:t>
              </a:r>
              <a:r>
                <a:rPr lang="zh-CN" altLang="en-US" dirty="0">
                  <a:latin typeface="Times New Roman" panose="02020603050405020304" pitchFamily="18" charset="0"/>
                  <a:ea typeface="宋体" panose="02010600030101010101" pitchFamily="2" charset="-122"/>
                </a:rPr>
                <a:t>代替即可。</a:t>
              </a:r>
              <a:endParaRPr lang="zh-CN" altLang="en-US" dirty="0">
                <a:latin typeface="Times New Roman" panose="02020603050405020304" pitchFamily="18" charset="0"/>
                <a:ea typeface="宋体" panose="02010600030101010101" pitchFamily="2" charset="-122"/>
              </a:endParaRPr>
            </a:p>
            <a:p>
              <a:pPr>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频域采样定理的要点是： </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① </a:t>
              </a:r>
              <a:r>
                <a:rPr lang="zh-CN" altLang="en-US" dirty="0">
                  <a:latin typeface="Times New Roman" panose="02020603050405020304" pitchFamily="18" charset="0"/>
                  <a:ea typeface="宋体" panose="02010600030101010101" pitchFamily="2" charset="-122"/>
                </a:rPr>
                <a:t>对信号</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的频谱函数</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a:t>
              </a:r>
              <a:r>
                <a:rPr lang="en-US" altLang="zh-CN" i="1" baseline="30000"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2π</a:t>
              </a:r>
              <a:r>
                <a:rPr lang="zh-CN" altLang="en-US" dirty="0">
                  <a:latin typeface="Times New Roman" panose="02020603050405020304" pitchFamily="18" charset="0"/>
                  <a:ea typeface="宋体" panose="02010600030101010101" pitchFamily="2" charset="-122"/>
                </a:rPr>
                <a:t>］上等间隔采样</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点，得到</a:t>
              </a:r>
              <a:r>
                <a:rPr lang="en-US" altLang="zh-CN"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则</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IDFT</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i="1" baseline="-25000"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］得到的序列就是原序列</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以</a:t>
              </a:r>
              <a:r>
                <a:rPr lang="en-US" altLang="zh-CN" i="1" dirty="0">
                  <a:solidFill>
                    <a:srgbClr val="0000FF"/>
                  </a:solidFill>
                  <a:latin typeface="Times New Roman" panose="02020603050405020304" pitchFamily="18" charset="0"/>
                  <a:ea typeface="宋体" panose="02010600030101010101" pitchFamily="2" charset="-122"/>
                </a:rPr>
                <a:t>N</a:t>
              </a:r>
              <a:r>
                <a:rPr lang="zh-CN" altLang="en-US" dirty="0">
                  <a:solidFill>
                    <a:srgbClr val="0000FF"/>
                  </a:solidFill>
                  <a:latin typeface="Times New Roman" panose="02020603050405020304" pitchFamily="18" charset="0"/>
                  <a:ea typeface="宋体" panose="02010600030101010101" pitchFamily="2" charset="-122"/>
                </a:rPr>
                <a:t>为周期</a:t>
              </a:r>
              <a:r>
                <a:rPr lang="zh-CN" altLang="en-US" dirty="0">
                  <a:latin typeface="Times New Roman" panose="02020603050405020304" pitchFamily="18" charset="0"/>
                  <a:ea typeface="宋体" panose="02010600030101010101" pitchFamily="2" charset="-122"/>
                </a:rPr>
                <a:t>进行周期延拓后的</a:t>
              </a:r>
              <a:r>
                <a:rPr lang="zh-CN" altLang="en-US" dirty="0">
                  <a:solidFill>
                    <a:srgbClr val="0000FF"/>
                  </a:solidFill>
                  <a:latin typeface="Times New Roman" panose="02020603050405020304" pitchFamily="18" charset="0"/>
                  <a:ea typeface="宋体" panose="02010600030101010101" pitchFamily="2" charset="-122"/>
                </a:rPr>
                <a:t>主值区序列</a:t>
              </a:r>
              <a:r>
                <a:rPr lang="zh-CN" altLang="en-US" dirty="0">
                  <a:latin typeface="Times New Roman" panose="02020603050405020304" pitchFamily="18" charset="0"/>
                  <a:ea typeface="宋体" panose="02010600030101010101" pitchFamily="2" charset="-122"/>
                </a:rPr>
                <a:t>，公式为</a:t>
              </a:r>
              <a:endParaRPr lang="zh-CN" altLang="en-US" dirty="0">
                <a:latin typeface="Times New Roman" panose="02020603050405020304" pitchFamily="18" charset="0"/>
                <a:ea typeface="宋体" panose="02010600030101010101" pitchFamily="2" charset="-122"/>
              </a:endParaRPr>
            </a:p>
          </p:txBody>
        </p:sp>
        <p:graphicFrame>
          <p:nvGraphicFramePr>
            <p:cNvPr id="26627" name="对象 791555"/>
            <p:cNvGraphicFramePr/>
            <p:nvPr/>
          </p:nvGraphicFramePr>
          <p:xfrm>
            <a:off x="1020" y="1797"/>
            <a:ext cx="3468" cy="623"/>
          </p:xfrm>
          <a:graphic>
            <a:graphicData uri="http://schemas.openxmlformats.org/presentationml/2006/ole">
              <mc:AlternateContent xmlns:mc="http://schemas.openxmlformats.org/markup-compatibility/2006">
                <mc:Choice xmlns:v="urn:schemas-microsoft-com:vml" Requires="v">
                  <p:oleObj spid="_x0000_s3090" name="" r:id="rId1" imgW="2678430" imgH="482600" progId="Equation.DSMT4">
                    <p:embed/>
                  </p:oleObj>
                </mc:Choice>
                <mc:Fallback>
                  <p:oleObj name="" r:id="rId1" imgW="2678430" imgH="482600" progId="Equation.DSMT4">
                    <p:embed/>
                    <p:pic>
                      <p:nvPicPr>
                        <p:cNvPr id="0" name="图片 3089"/>
                        <p:cNvPicPr/>
                        <p:nvPr/>
                      </p:nvPicPr>
                      <p:blipFill>
                        <a:blip r:embed="rId2"/>
                        <a:stretch>
                          <a:fillRect/>
                        </a:stretch>
                      </p:blipFill>
                      <p:spPr>
                        <a:xfrm>
                          <a:off x="1020" y="1797"/>
                          <a:ext cx="3468" cy="623"/>
                        </a:xfrm>
                        <a:prstGeom prst="rect">
                          <a:avLst/>
                        </a:prstGeom>
                        <a:noFill/>
                        <a:ln w="38100">
                          <a:noFill/>
                          <a:miter/>
                        </a:ln>
                      </p:spPr>
                    </p:pic>
                  </p:oleObj>
                </mc:Fallback>
              </mc:AlternateContent>
            </a:graphicData>
          </a:graphic>
        </p:graphicFrame>
        <p:graphicFrame>
          <p:nvGraphicFramePr>
            <p:cNvPr id="26628" name="对象 791556"/>
            <p:cNvGraphicFramePr/>
            <p:nvPr/>
          </p:nvGraphicFramePr>
          <p:xfrm>
            <a:off x="975" y="3291"/>
            <a:ext cx="3810" cy="572"/>
          </p:xfrm>
          <a:graphic>
            <a:graphicData uri="http://schemas.openxmlformats.org/presentationml/2006/ole">
              <mc:AlternateContent xmlns:mc="http://schemas.openxmlformats.org/markup-compatibility/2006">
                <mc:Choice xmlns:v="urn:schemas-microsoft-com:vml" Requires="v">
                  <p:oleObj spid="_x0000_s3088" name="" r:id="rId3" imgW="2857500" imgH="431800" progId="Equation.DSMT4">
                    <p:embed/>
                  </p:oleObj>
                </mc:Choice>
                <mc:Fallback>
                  <p:oleObj name="" r:id="rId3" imgW="2857500" imgH="431800" progId="Equation.DSMT4">
                    <p:embed/>
                    <p:pic>
                      <p:nvPicPr>
                        <p:cNvPr id="0" name="图片 3087"/>
                        <p:cNvPicPr/>
                        <p:nvPr/>
                      </p:nvPicPr>
                      <p:blipFill>
                        <a:blip r:embed="rId4"/>
                        <a:stretch>
                          <a:fillRect/>
                        </a:stretch>
                      </p:blipFill>
                      <p:spPr>
                        <a:xfrm>
                          <a:off x="975" y="3291"/>
                          <a:ext cx="3810" cy="572"/>
                        </a:xfrm>
                        <a:prstGeom prst="rect">
                          <a:avLst/>
                        </a:prstGeom>
                        <a:noFill/>
                        <a:ln w="38100">
                          <a:noFill/>
                          <a:miter/>
                        </a:ln>
                      </p:spPr>
                    </p:pic>
                  </p:oleObj>
                </mc:Fallback>
              </mc:AlternateContent>
            </a:graphicData>
          </a:graphic>
        </p:graphicFrame>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792577"/>
          <p:cNvSpPr txBox="1"/>
          <p:nvPr/>
        </p:nvSpPr>
        <p:spPr>
          <a:xfrm>
            <a:off x="466725" y="1412875"/>
            <a:ext cx="7848600" cy="3927475"/>
          </a:xfrm>
          <a:prstGeom prst="rect">
            <a:avLst/>
          </a:prstGeom>
          <a:noFill/>
          <a:ln w="9525">
            <a:noFill/>
          </a:ln>
        </p:spPr>
        <p:txBody>
          <a:bodyPr anchor="t" anchorCtr="0">
            <a:spAutoFit/>
          </a:bodyPr>
          <a:p>
            <a:pPr>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② </a:t>
            </a:r>
            <a:r>
              <a:rPr lang="zh-CN" altLang="en-US" dirty="0">
                <a:latin typeface="Times New Roman" panose="02020603050405020304" pitchFamily="18" charset="0"/>
                <a:ea typeface="宋体" panose="02010600030101010101" pitchFamily="2" charset="-122"/>
              </a:rPr>
              <a:t>由上式可知，</a:t>
            </a:r>
            <a:r>
              <a:rPr lang="zh-CN" altLang="en-US" dirty="0">
                <a:solidFill>
                  <a:srgbClr val="0000FF"/>
                </a:solidFill>
                <a:latin typeface="Times New Roman" panose="02020603050405020304" pitchFamily="18" charset="0"/>
                <a:ea typeface="宋体" panose="02010600030101010101" pitchFamily="2" charset="-122"/>
              </a:rPr>
              <a:t>频域采样点数</a:t>
            </a:r>
            <a:r>
              <a:rPr lang="en-US" altLang="zh-CN" i="1" dirty="0">
                <a:solidFill>
                  <a:srgbClr val="0000FF"/>
                </a:solidFill>
                <a:latin typeface="Times New Roman" panose="02020603050405020304" pitchFamily="18" charset="0"/>
                <a:ea typeface="宋体" panose="02010600030101010101" pitchFamily="2" charset="-122"/>
              </a:rPr>
              <a:t>N</a:t>
            </a:r>
            <a:r>
              <a:rPr lang="zh-CN" altLang="en-US" dirty="0">
                <a:solidFill>
                  <a:srgbClr val="0000FF"/>
                </a:solidFill>
                <a:latin typeface="Times New Roman" panose="02020603050405020304" pitchFamily="18" charset="0"/>
                <a:ea typeface="宋体" panose="02010600030101010101" pitchFamily="2" charset="-122"/>
              </a:rPr>
              <a:t>必须大于等于时域离散信号的长度</a:t>
            </a:r>
            <a:r>
              <a:rPr lang="en-US" altLang="zh-CN" i="1" dirty="0">
                <a:solidFill>
                  <a:srgbClr val="0000FF"/>
                </a:solidFill>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，才能使时域不产生混叠，则</a:t>
            </a:r>
            <a:r>
              <a:rPr lang="en-US" altLang="zh-CN" i="1"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IDFT</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i="1" baseline="-25000"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］得到的序列</a:t>
            </a:r>
            <a:r>
              <a:rPr lang="en-US" altLang="zh-CN" i="1" dirty="0">
                <a:latin typeface="Times New Roman" panose="02020603050405020304" pitchFamily="18" charset="0"/>
                <a:ea typeface="宋体" panose="02010600030101010101" pitchFamily="2" charset="-122"/>
              </a:rPr>
              <a:t>x</a:t>
            </a:r>
            <a:r>
              <a:rPr lang="en-US" altLang="zh-CN" i="1" baseline="-25000"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就是原序列</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即</a:t>
            </a:r>
            <a:r>
              <a:rPr lang="en-US" altLang="zh-CN" i="1" dirty="0">
                <a:latin typeface="Times New Roman" panose="02020603050405020304" pitchFamily="18" charset="0"/>
                <a:ea typeface="宋体" panose="02010600030101010101" pitchFamily="2" charset="-122"/>
              </a:rPr>
              <a:t>x</a:t>
            </a:r>
            <a:r>
              <a:rPr lang="en-US" altLang="zh-CN" i="1" baseline="-25000"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。如果</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&gt;</a:t>
            </a:r>
            <a:r>
              <a:rPr lang="en-US" altLang="zh-CN" i="1"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i="1" baseline="-25000"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比原序列尾部多</a:t>
            </a:r>
            <a:r>
              <a:rPr lang="en-US" altLang="zh-CN" i="1" dirty="0">
                <a:latin typeface="Times New Roman" panose="02020603050405020304" pitchFamily="18" charset="0"/>
                <a:ea typeface="宋体" panose="02010600030101010101" pitchFamily="2" charset="-122"/>
              </a:rPr>
              <a:t>N</a:t>
            </a:r>
            <a:r>
              <a:rPr lang="zh-CN" altLang="en-US" i="1"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个零点；如果</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&lt;</a:t>
            </a:r>
            <a:r>
              <a:rPr lang="en-US" altLang="zh-CN" i="1"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，则</a:t>
            </a:r>
            <a:r>
              <a:rPr lang="en-US" altLang="zh-CN" i="1" dirty="0">
                <a:latin typeface="Times New Roman" panose="02020603050405020304" pitchFamily="18" charset="0"/>
                <a:ea typeface="宋体" panose="02010600030101010101" pitchFamily="2" charset="-122"/>
              </a:rPr>
              <a:t>x</a:t>
            </a:r>
            <a:r>
              <a:rPr lang="en-US" altLang="zh-CN" i="1" baseline="-25000"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)=IDFT</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i="1" baseline="-25000"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］发生了时域混叠失真，</a:t>
            </a:r>
            <a:r>
              <a:rPr lang="zh-CN" altLang="en-US" dirty="0">
                <a:solidFill>
                  <a:srgbClr val="0000FF"/>
                </a:solidFill>
                <a:latin typeface="Times New Roman" panose="02020603050405020304" pitchFamily="18" charset="0"/>
                <a:ea typeface="宋体" panose="02010600030101010101" pitchFamily="2" charset="-122"/>
              </a:rPr>
              <a:t>而且</a:t>
            </a:r>
            <a:r>
              <a:rPr lang="en-US" altLang="zh-CN" i="1" dirty="0">
                <a:solidFill>
                  <a:srgbClr val="0000FF"/>
                </a:solidFill>
                <a:latin typeface="Times New Roman" panose="02020603050405020304" pitchFamily="18" charset="0"/>
                <a:ea typeface="宋体" panose="02010600030101010101" pitchFamily="2" charset="-122"/>
              </a:rPr>
              <a:t>x</a:t>
            </a:r>
            <a:r>
              <a:rPr lang="en-US" altLang="zh-CN" i="1" baseline="-25000" dirty="0">
                <a:solidFill>
                  <a:srgbClr val="0000FF"/>
                </a:solidFill>
                <a:latin typeface="Times New Roman" panose="02020603050405020304" pitchFamily="18" charset="0"/>
                <a:ea typeface="宋体" panose="02010600030101010101" pitchFamily="2" charset="-122"/>
              </a:rPr>
              <a:t>N</a:t>
            </a:r>
            <a:r>
              <a:rPr lang="en-US" altLang="zh-CN" dirty="0">
                <a:solidFill>
                  <a:srgbClr val="0000FF"/>
                </a:solidFill>
                <a:latin typeface="Times New Roman" panose="02020603050405020304" pitchFamily="18" charset="0"/>
                <a:ea typeface="宋体" panose="02010600030101010101" pitchFamily="2" charset="-122"/>
              </a:rPr>
              <a:t>(</a:t>
            </a:r>
            <a:r>
              <a:rPr lang="en-US" altLang="zh-CN" i="1" dirty="0">
                <a:solidFill>
                  <a:srgbClr val="0000FF"/>
                </a:solidFill>
                <a:latin typeface="Times New Roman" panose="02020603050405020304" pitchFamily="18" charset="0"/>
                <a:ea typeface="宋体" panose="02010600030101010101" pitchFamily="2" charset="-122"/>
              </a:rPr>
              <a:t>n</a:t>
            </a:r>
            <a:r>
              <a:rPr lang="en-US" altLang="zh-CN" dirty="0">
                <a:solidFill>
                  <a:srgbClr val="0000FF"/>
                </a:solidFill>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的长度</a:t>
            </a:r>
            <a:r>
              <a:rPr lang="en-US" altLang="zh-CN" i="1" dirty="0">
                <a:solidFill>
                  <a:srgbClr val="0000FF"/>
                </a:solidFill>
                <a:latin typeface="Times New Roman" panose="02020603050405020304" pitchFamily="18" charset="0"/>
                <a:ea typeface="宋体" panose="02010600030101010101" pitchFamily="2" charset="-122"/>
              </a:rPr>
              <a:t>N</a:t>
            </a:r>
            <a:r>
              <a:rPr lang="zh-CN" altLang="en-US" dirty="0">
                <a:solidFill>
                  <a:srgbClr val="0000FF"/>
                </a:solidFill>
                <a:latin typeface="Times New Roman" panose="02020603050405020304" pitchFamily="18" charset="0"/>
                <a:ea typeface="宋体" panose="02010600030101010101" pitchFamily="2" charset="-122"/>
              </a:rPr>
              <a:t>也比</a:t>
            </a:r>
            <a:r>
              <a:rPr lang="en-US" altLang="zh-CN" i="1" dirty="0">
                <a:solidFill>
                  <a:srgbClr val="0000FF"/>
                </a:solidFill>
                <a:latin typeface="Times New Roman" panose="02020603050405020304" pitchFamily="18" charset="0"/>
                <a:ea typeface="宋体" panose="02010600030101010101" pitchFamily="2" charset="-122"/>
              </a:rPr>
              <a:t>x</a:t>
            </a:r>
            <a:r>
              <a:rPr lang="en-US" altLang="zh-CN" dirty="0">
                <a:solidFill>
                  <a:srgbClr val="0000FF"/>
                </a:solidFill>
                <a:latin typeface="Times New Roman" panose="02020603050405020304" pitchFamily="18" charset="0"/>
                <a:ea typeface="宋体" panose="02010600030101010101" pitchFamily="2" charset="-122"/>
              </a:rPr>
              <a:t>(</a:t>
            </a:r>
            <a:r>
              <a:rPr lang="en-US" altLang="zh-CN" i="1" dirty="0">
                <a:solidFill>
                  <a:srgbClr val="0000FF"/>
                </a:solidFill>
                <a:latin typeface="Times New Roman" panose="02020603050405020304" pitchFamily="18" charset="0"/>
                <a:ea typeface="宋体" panose="02010600030101010101" pitchFamily="2" charset="-122"/>
              </a:rPr>
              <a:t>n</a:t>
            </a:r>
            <a:r>
              <a:rPr lang="en-US" altLang="zh-CN" dirty="0">
                <a:solidFill>
                  <a:srgbClr val="0000FF"/>
                </a:solidFill>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的长度</a:t>
            </a:r>
            <a:r>
              <a:rPr lang="en-US" altLang="zh-CN" i="1" dirty="0">
                <a:solidFill>
                  <a:srgbClr val="0000FF"/>
                </a:solidFill>
                <a:latin typeface="Times New Roman" panose="02020603050405020304" pitchFamily="18" charset="0"/>
                <a:ea typeface="宋体" panose="02010600030101010101" pitchFamily="2" charset="-122"/>
              </a:rPr>
              <a:t>M</a:t>
            </a:r>
            <a:r>
              <a:rPr lang="zh-CN" altLang="en-US" dirty="0">
                <a:solidFill>
                  <a:srgbClr val="0000FF"/>
                </a:solidFill>
                <a:latin typeface="Times New Roman" panose="02020603050405020304" pitchFamily="18" charset="0"/>
                <a:ea typeface="宋体" panose="02010600030101010101" pitchFamily="2" charset="-122"/>
              </a:rPr>
              <a:t>短</a:t>
            </a:r>
            <a:r>
              <a:rPr lang="zh-CN" altLang="en-US" dirty="0">
                <a:latin typeface="Times New Roman" panose="02020603050405020304" pitchFamily="18" charset="0"/>
                <a:ea typeface="宋体" panose="02010600030101010101" pitchFamily="2" charset="-122"/>
              </a:rPr>
              <a:t>，因此</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x</a:t>
            </a:r>
            <a:r>
              <a:rPr lang="en-US" altLang="zh-CN" i="1" baseline="-25000"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与</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不相同。</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文本框 792577"/>
          <p:cNvSpPr txBox="1"/>
          <p:nvPr/>
        </p:nvSpPr>
        <p:spPr>
          <a:xfrm>
            <a:off x="647700" y="1484313"/>
            <a:ext cx="7848600" cy="2489200"/>
          </a:xfrm>
          <a:prstGeom prst="rect">
            <a:avLst/>
          </a:prstGeom>
          <a:noFill/>
          <a:ln w="9525">
            <a:noFill/>
          </a:ln>
        </p:spPr>
        <p:txBody>
          <a:bodyPr anchor="t" anchorCtr="0">
            <a:spAutoFit/>
          </a:bodyPr>
          <a:p>
            <a:pPr>
              <a:lnSpc>
                <a:spcPct val="130000"/>
              </a:lnSpc>
            </a:pPr>
            <a:r>
              <a:rPr lang="zh-CN" altLang="en-US" dirty="0">
                <a:latin typeface="Times New Roman" panose="02020603050405020304" pitchFamily="18" charset="0"/>
                <a:ea typeface="宋体" panose="02010600030101010101" pitchFamily="2" charset="-122"/>
              </a:rPr>
              <a:t>　　在数字信号处理的应用中，只要涉及时域或者频域采样，都必须服从这两个采样理论的要点。对比时域采样原理和频域采样原理，得到一个有用的结论</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这两个采样理论具有对偶性，即“</a:t>
            </a:r>
            <a:r>
              <a:rPr lang="zh-CN" altLang="en-US" dirty="0">
                <a:solidFill>
                  <a:srgbClr val="FF0000"/>
                </a:solidFill>
                <a:latin typeface="Times New Roman" panose="02020603050405020304" pitchFamily="18" charset="0"/>
                <a:ea typeface="宋体" panose="02010600030101010101" pitchFamily="2" charset="-122"/>
              </a:rPr>
              <a:t>时域采样频谱周期延拓，频域采样时域信号周期延拓</a:t>
            </a:r>
            <a:r>
              <a:rPr lang="zh-CN" altLang="en-US" dirty="0">
                <a:latin typeface="Times New Roman" panose="02020603050405020304" pitchFamily="18" charset="0"/>
                <a:ea typeface="宋体" panose="02010600030101010101" pitchFamily="2" charset="-122"/>
              </a:rPr>
              <a:t>”。因此放在一起进行实验。</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9697" name="组合 714760"/>
          <p:cNvGrpSpPr/>
          <p:nvPr/>
        </p:nvGrpSpPr>
        <p:grpSpPr>
          <a:xfrm>
            <a:off x="468313" y="577850"/>
            <a:ext cx="8496300" cy="4406900"/>
            <a:chOff x="295" y="364"/>
            <a:chExt cx="5352" cy="2776"/>
          </a:xfrm>
        </p:grpSpPr>
        <p:sp>
          <p:nvSpPr>
            <p:cNvPr id="29698" name="文本框 714753"/>
            <p:cNvSpPr txBox="1"/>
            <p:nvPr/>
          </p:nvSpPr>
          <p:spPr>
            <a:xfrm>
              <a:off x="295" y="364"/>
              <a:ext cx="5352" cy="2776"/>
            </a:xfrm>
            <a:prstGeom prst="rect">
              <a:avLst/>
            </a:prstGeom>
            <a:noFill/>
            <a:ln w="9525">
              <a:noFill/>
            </a:ln>
          </p:spPr>
          <p:txBody>
            <a:bodyPr anchor="t" anchorCtr="0">
              <a:spAutoFit/>
            </a:bodyPr>
            <a:p>
              <a:pPr>
                <a:lnSpc>
                  <a:spcPct val="130000"/>
                </a:lnSpc>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3.  </a:t>
              </a:r>
              <a:r>
                <a:rPr lang="zh-CN" altLang="en-US" b="1" dirty="0">
                  <a:latin typeface="Times New Roman" panose="02020603050405020304" pitchFamily="18" charset="0"/>
                  <a:ea typeface="宋体" panose="02010600030101010101" pitchFamily="2" charset="-122"/>
                </a:rPr>
                <a:t>实验内容及步骤</a:t>
              </a:r>
              <a:endParaRPr lang="zh-CN" altLang="en-US" b="1"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时域采样理论的验证。 给定模拟信号</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式中</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=444.128</a:t>
              </a:r>
              <a:r>
                <a:rPr lang="zh-CN" altLang="en-US" dirty="0">
                  <a:latin typeface="Times New Roman" panose="02020603050405020304" pitchFamily="18" charset="0"/>
                  <a:ea typeface="宋体" panose="02010600030101010101" pitchFamily="2" charset="-122"/>
                </a:rPr>
                <a:t>，　　　　　，　    　　　      ，它的幅频特性曲线如图</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所示。</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现用</a:t>
              </a:r>
              <a:r>
                <a:rPr lang="en-US" altLang="zh-CN" dirty="0">
                  <a:latin typeface="Times New Roman" panose="02020603050405020304" pitchFamily="18" charset="0"/>
                  <a:ea typeface="宋体" panose="02010600030101010101" pitchFamily="2" charset="-122"/>
                </a:rPr>
                <a:t>DFT(FFT)</a:t>
              </a:r>
              <a:r>
                <a:rPr lang="zh-CN" altLang="en-US" dirty="0">
                  <a:latin typeface="Times New Roman" panose="02020603050405020304" pitchFamily="18" charset="0"/>
                  <a:ea typeface="宋体" panose="02010600030101010101" pitchFamily="2" charset="-122"/>
                </a:rPr>
                <a:t>求该模拟信号的幅频特性，以验证时域采样理论。</a:t>
              </a:r>
              <a:endParaRPr lang="zh-CN" altLang="en-US" dirty="0">
                <a:latin typeface="Times New Roman" panose="02020603050405020304" pitchFamily="18" charset="0"/>
                <a:ea typeface="宋体" panose="02010600030101010101" pitchFamily="2" charset="-122"/>
              </a:endParaRPr>
            </a:p>
          </p:txBody>
        </p:sp>
        <p:graphicFrame>
          <p:nvGraphicFramePr>
            <p:cNvPr id="29699" name="对象 714755"/>
            <p:cNvGraphicFramePr/>
            <p:nvPr/>
          </p:nvGraphicFramePr>
          <p:xfrm>
            <a:off x="1247" y="1162"/>
            <a:ext cx="2858" cy="431"/>
          </p:xfrm>
          <a:graphic>
            <a:graphicData uri="http://schemas.openxmlformats.org/presentationml/2006/ole">
              <mc:AlternateContent xmlns:mc="http://schemas.openxmlformats.org/markup-compatibility/2006">
                <mc:Choice xmlns:v="urn:schemas-microsoft-com:vml" Requires="v">
                  <p:oleObj spid="_x0000_s3094" name="" r:id="rId1" imgW="1574800" imgH="241300" progId="Equation.DSMT4">
                    <p:embed/>
                  </p:oleObj>
                </mc:Choice>
                <mc:Fallback>
                  <p:oleObj name="" r:id="rId1" imgW="1574800" imgH="241300" progId="Equation.DSMT4">
                    <p:embed/>
                    <p:pic>
                      <p:nvPicPr>
                        <p:cNvPr id="0" name="图片 3093"/>
                        <p:cNvPicPr/>
                        <p:nvPr/>
                      </p:nvPicPr>
                      <p:blipFill>
                        <a:blip r:embed="rId2"/>
                        <a:stretch>
                          <a:fillRect/>
                        </a:stretch>
                      </p:blipFill>
                      <p:spPr>
                        <a:xfrm>
                          <a:off x="1247" y="1162"/>
                          <a:ext cx="2858" cy="431"/>
                        </a:xfrm>
                        <a:prstGeom prst="rect">
                          <a:avLst/>
                        </a:prstGeom>
                        <a:noFill/>
                        <a:ln w="38100">
                          <a:noFill/>
                          <a:miter/>
                        </a:ln>
                      </p:spPr>
                    </p:pic>
                  </p:oleObj>
                </mc:Fallback>
              </mc:AlternateContent>
            </a:graphicData>
          </a:graphic>
        </p:graphicFrame>
        <p:graphicFrame>
          <p:nvGraphicFramePr>
            <p:cNvPr id="29700" name="对象 714756"/>
            <p:cNvGraphicFramePr/>
            <p:nvPr/>
          </p:nvGraphicFramePr>
          <p:xfrm>
            <a:off x="1837" y="1916"/>
            <a:ext cx="952" cy="289"/>
          </p:xfrm>
          <a:graphic>
            <a:graphicData uri="http://schemas.openxmlformats.org/presentationml/2006/ole">
              <mc:AlternateContent xmlns:mc="http://schemas.openxmlformats.org/markup-compatibility/2006">
                <mc:Choice xmlns:v="urn:schemas-microsoft-com:vml" Requires="v">
                  <p:oleObj spid="_x0000_s3089" name="" r:id="rId3" imgW="711200" imgH="215900" progId="Equation.DSMT4">
                    <p:embed/>
                  </p:oleObj>
                </mc:Choice>
                <mc:Fallback>
                  <p:oleObj name="" r:id="rId3" imgW="711200" imgH="215900" progId="Equation.DSMT4">
                    <p:embed/>
                    <p:pic>
                      <p:nvPicPr>
                        <p:cNvPr id="0" name="图片 3088"/>
                        <p:cNvPicPr/>
                        <p:nvPr/>
                      </p:nvPicPr>
                      <p:blipFill>
                        <a:blip r:embed="rId4"/>
                        <a:stretch>
                          <a:fillRect/>
                        </a:stretch>
                      </p:blipFill>
                      <p:spPr>
                        <a:xfrm>
                          <a:off x="1837" y="1916"/>
                          <a:ext cx="952" cy="289"/>
                        </a:xfrm>
                        <a:prstGeom prst="rect">
                          <a:avLst/>
                        </a:prstGeom>
                        <a:noFill/>
                        <a:ln w="38100">
                          <a:noFill/>
                          <a:miter/>
                        </a:ln>
                      </p:spPr>
                    </p:pic>
                  </p:oleObj>
                </mc:Fallback>
              </mc:AlternateContent>
            </a:graphicData>
          </a:graphic>
        </p:graphicFrame>
        <p:graphicFrame>
          <p:nvGraphicFramePr>
            <p:cNvPr id="29701" name="对象 714758"/>
            <p:cNvGraphicFramePr/>
            <p:nvPr/>
          </p:nvGraphicFramePr>
          <p:xfrm>
            <a:off x="2925" y="1888"/>
            <a:ext cx="1304" cy="332"/>
          </p:xfrm>
          <a:graphic>
            <a:graphicData uri="http://schemas.openxmlformats.org/presentationml/2006/ole">
              <mc:AlternateContent xmlns:mc="http://schemas.openxmlformats.org/markup-compatibility/2006">
                <mc:Choice xmlns:v="urn:schemas-microsoft-com:vml" Requires="v">
                  <p:oleObj spid="_x0000_s3095" name="" r:id="rId5" imgW="1091565" imgH="254000" progId="Equation.DSMT4">
                    <p:embed/>
                  </p:oleObj>
                </mc:Choice>
                <mc:Fallback>
                  <p:oleObj name="" r:id="rId5" imgW="1091565" imgH="254000" progId="Equation.DSMT4">
                    <p:embed/>
                    <p:pic>
                      <p:nvPicPr>
                        <p:cNvPr id="0" name="图片 3094"/>
                        <p:cNvPicPr/>
                        <p:nvPr/>
                      </p:nvPicPr>
                      <p:blipFill>
                        <a:blip r:embed="rId6"/>
                        <a:stretch>
                          <a:fillRect/>
                        </a:stretch>
                      </p:blipFill>
                      <p:spPr>
                        <a:xfrm>
                          <a:off x="2925" y="1888"/>
                          <a:ext cx="1304" cy="332"/>
                        </a:xfrm>
                        <a:prstGeom prst="rect">
                          <a:avLst/>
                        </a:prstGeom>
                        <a:noFill/>
                        <a:ln w="38100">
                          <a:noFill/>
                          <a:miter/>
                        </a:ln>
                      </p:spPr>
                    </p:pic>
                  </p:oleObj>
                </mc:Fallback>
              </mc:AlternateContent>
            </a:graphicData>
          </a:graphic>
        </p:graphicFrame>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21" name="图片 1"/>
          <p:cNvPicPr>
            <a:picLocks noChangeAspect="1"/>
          </p:cNvPicPr>
          <p:nvPr>
            <p:custDataLst>
              <p:tags r:id="rId1"/>
            </p:custDataLst>
          </p:nvPr>
        </p:nvPicPr>
        <p:blipFill>
          <a:blip r:embed="rId2"/>
          <a:stretch>
            <a:fillRect/>
          </a:stretch>
        </p:blipFill>
        <p:spPr>
          <a:xfrm>
            <a:off x="1331913" y="1123950"/>
            <a:ext cx="6059487" cy="3890963"/>
          </a:xfrm>
          <a:prstGeom prst="rect">
            <a:avLst/>
          </a:prstGeom>
          <a:noFill/>
          <a:ln w="9525">
            <a:noFill/>
          </a:ln>
        </p:spPr>
      </p:pic>
      <p:sp>
        <p:nvSpPr>
          <p:cNvPr id="30722" name="文本框 2"/>
          <p:cNvSpPr txBox="1"/>
          <p:nvPr/>
        </p:nvSpPr>
        <p:spPr>
          <a:xfrm>
            <a:off x="2987675" y="5229225"/>
            <a:ext cx="3378200" cy="460375"/>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1 </a:t>
            </a:r>
            <a:r>
              <a:rPr lang="en-US" altLang="zh-CN" i="1" dirty="0">
                <a:latin typeface="Times New Roman" panose="02020603050405020304" pitchFamily="18" charset="0"/>
                <a:ea typeface="宋体" panose="02010600030101010101" pitchFamily="2" charset="-122"/>
              </a:rPr>
              <a:t>x</a:t>
            </a:r>
            <a:r>
              <a:rPr lang="en-US" altLang="zh-CN" i="1" baseline="-25000" dirty="0">
                <a:latin typeface="Times New Roman" panose="02020603050405020304" pitchFamily="18" charset="0"/>
                <a:ea typeface="宋体" panose="02010600030101010101" pitchFamily="2" charset="-122"/>
              </a:rPr>
              <a:t>a</a:t>
            </a:r>
            <a:r>
              <a:rPr lang="en-US" altLang="zh-CN" i="1" dirty="0">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的幅频特性曲线</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1745" name="组合 712707"/>
          <p:cNvGrpSpPr/>
          <p:nvPr/>
        </p:nvGrpSpPr>
        <p:grpSpPr>
          <a:xfrm>
            <a:off x="611188" y="620713"/>
            <a:ext cx="7848600" cy="4841875"/>
            <a:chOff x="385" y="391"/>
            <a:chExt cx="4944" cy="3050"/>
          </a:xfrm>
        </p:grpSpPr>
        <p:sp>
          <p:nvSpPr>
            <p:cNvPr id="31746" name="文本框 712705"/>
            <p:cNvSpPr txBox="1"/>
            <p:nvPr/>
          </p:nvSpPr>
          <p:spPr>
            <a:xfrm>
              <a:off x="385" y="391"/>
              <a:ext cx="4944" cy="3050"/>
            </a:xfrm>
            <a:prstGeom prst="rect">
              <a:avLst/>
            </a:prstGeom>
            <a:noFill/>
            <a:ln w="9525">
              <a:noFill/>
            </a:ln>
          </p:spPr>
          <p:txBody>
            <a:bodyPr anchor="t" anchorCtr="0">
              <a:spAutoFit/>
            </a:bodyPr>
            <a:p>
              <a:pPr>
                <a:lnSpc>
                  <a:spcPct val="130000"/>
                </a:lnSpc>
              </a:pPr>
              <a:r>
                <a:rPr lang="zh-CN" altLang="en-US" dirty="0">
                  <a:latin typeface="Times New Roman" panose="02020603050405020304" pitchFamily="18" charset="0"/>
                  <a:ea typeface="宋体" panose="02010600030101010101" pitchFamily="2" charset="-122"/>
                </a:rPr>
                <a:t>　　按照</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的幅频特性曲线，选取三种采样频率，即</a:t>
              </a:r>
              <a:r>
                <a:rPr lang="en-US" altLang="zh-CN" i="1" dirty="0">
                  <a:latin typeface="Times New Roman" panose="02020603050405020304" pitchFamily="18" charset="0"/>
                  <a:ea typeface="宋体" panose="02010600030101010101" pitchFamily="2" charset="-122"/>
                </a:rPr>
                <a:t>F</a:t>
              </a:r>
              <a:r>
                <a:rPr lang="en-US" altLang="zh-CN" baseline="-25000"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=1 kHz</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300 Hz</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200 Hz</a:t>
              </a:r>
              <a:r>
                <a:rPr lang="zh-CN" altLang="en-US" dirty="0">
                  <a:latin typeface="Times New Roman" panose="02020603050405020304" pitchFamily="18" charset="0"/>
                  <a:ea typeface="宋体" panose="02010600030101010101" pitchFamily="2" charset="-122"/>
                </a:rPr>
                <a:t>。观测时间选</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p</a:t>
              </a:r>
              <a:r>
                <a:rPr lang="en-US" altLang="zh-CN" dirty="0">
                  <a:latin typeface="Times New Roman" panose="02020603050405020304" pitchFamily="18" charset="0"/>
                  <a:ea typeface="宋体" panose="02010600030101010101" pitchFamily="2" charset="-122"/>
                </a:rPr>
                <a:t>=64 ms</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为使用</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，首先用下面的公式产生时域离散信号，对三种采样频率，采样序列按顺序用</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表示。</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因为采样频率不同，得到的</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的长度不同， 长度（点数）用公式</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p</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F</a:t>
              </a:r>
              <a:r>
                <a:rPr lang="en-US" altLang="zh-CN" baseline="-25000"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计算。选</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的变换点数为</a:t>
              </a:r>
              <a:r>
                <a:rPr lang="en-US" altLang="zh-CN" i="1" dirty="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=64</a:t>
              </a:r>
              <a:r>
                <a:rPr lang="zh-CN" altLang="en-US" dirty="0">
                  <a:latin typeface="Times New Roman" panose="02020603050405020304" pitchFamily="18" charset="0"/>
                  <a:ea typeface="宋体" panose="02010600030101010101" pitchFamily="2" charset="-122"/>
                </a:rPr>
                <a:t>，序列长度不够</a:t>
              </a:r>
              <a:r>
                <a:rPr lang="en-US" altLang="zh-CN" dirty="0">
                  <a:latin typeface="Times New Roman" panose="02020603050405020304" pitchFamily="18" charset="0"/>
                  <a:ea typeface="宋体" panose="02010600030101010101" pitchFamily="2" charset="-122"/>
                </a:rPr>
                <a:t>64</a:t>
              </a:r>
              <a:r>
                <a:rPr lang="zh-CN" altLang="en-US" dirty="0">
                  <a:latin typeface="Times New Roman" panose="02020603050405020304" pitchFamily="18" charset="0"/>
                  <a:ea typeface="宋体" panose="02010600030101010101" pitchFamily="2" charset="-122"/>
                </a:rPr>
                <a:t>的尾部加零。</a:t>
              </a:r>
              <a:endParaRPr lang="zh-CN" altLang="en-US" dirty="0">
                <a:latin typeface="Times New Roman" panose="02020603050405020304" pitchFamily="18" charset="0"/>
                <a:ea typeface="宋体" panose="02010600030101010101" pitchFamily="2" charset="-122"/>
              </a:endParaRPr>
            </a:p>
          </p:txBody>
        </p:sp>
        <p:graphicFrame>
          <p:nvGraphicFramePr>
            <p:cNvPr id="31747" name="对象 712706"/>
            <p:cNvGraphicFramePr/>
            <p:nvPr/>
          </p:nvGraphicFramePr>
          <p:xfrm>
            <a:off x="1054" y="2069"/>
            <a:ext cx="3334" cy="321"/>
          </p:xfrm>
          <a:graphic>
            <a:graphicData uri="http://schemas.openxmlformats.org/presentationml/2006/ole">
              <mc:AlternateContent xmlns:mc="http://schemas.openxmlformats.org/markup-compatibility/2006">
                <mc:Choice xmlns:v="urn:schemas-microsoft-com:vml" Requires="v">
                  <p:oleObj spid="_x0000_s3091" name="" r:id="rId1" imgW="2476500" imgH="241300" progId="Equation.DSMT4">
                    <p:embed/>
                  </p:oleObj>
                </mc:Choice>
                <mc:Fallback>
                  <p:oleObj name="" r:id="rId1" imgW="2476500" imgH="241300" progId="Equation.DSMT4">
                    <p:embed/>
                    <p:pic>
                      <p:nvPicPr>
                        <p:cNvPr id="0" name="图片 3090"/>
                        <p:cNvPicPr/>
                        <p:nvPr/>
                      </p:nvPicPr>
                      <p:blipFill>
                        <a:blip r:embed="rId2"/>
                        <a:stretch>
                          <a:fillRect/>
                        </a:stretch>
                      </p:blipFill>
                      <p:spPr>
                        <a:xfrm>
                          <a:off x="1054" y="2069"/>
                          <a:ext cx="3334" cy="321"/>
                        </a:xfrm>
                        <a:prstGeom prst="rect">
                          <a:avLst/>
                        </a:prstGeom>
                        <a:noFill/>
                        <a:ln w="38100">
                          <a:noFill/>
                          <a:miter/>
                        </a:ln>
                      </p:spPr>
                    </p:pic>
                  </p:oleObj>
                </mc:Fallback>
              </mc:AlternateContent>
            </a:graphicData>
          </a:graphic>
        </p:graphicFrame>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2769" name="组合 711683"/>
          <p:cNvGrpSpPr/>
          <p:nvPr/>
        </p:nvGrpSpPr>
        <p:grpSpPr>
          <a:xfrm>
            <a:off x="900113" y="1052513"/>
            <a:ext cx="6911975" cy="3525837"/>
            <a:chOff x="567" y="663"/>
            <a:chExt cx="4354" cy="2221"/>
          </a:xfrm>
        </p:grpSpPr>
        <p:sp>
          <p:nvSpPr>
            <p:cNvPr id="32770" name="文本框 711681"/>
            <p:cNvSpPr txBox="1"/>
            <p:nvPr/>
          </p:nvSpPr>
          <p:spPr>
            <a:xfrm>
              <a:off x="567" y="663"/>
              <a:ext cx="4354" cy="2221"/>
            </a:xfrm>
            <a:prstGeom prst="rect">
              <a:avLst/>
            </a:prstGeom>
            <a:noFill/>
            <a:ln w="9525">
              <a:noFill/>
            </a:ln>
          </p:spPr>
          <p:txBody>
            <a:bodyPr anchor="t" anchorCtr="0">
              <a:spAutoFit/>
            </a:bodyPr>
            <a:p>
              <a:pPr algn="ctr">
                <a:lnSpc>
                  <a:spcPct val="160000"/>
                </a:lnSpc>
              </a:pPr>
              <a:r>
                <a:rPr lang="pt-BR" altLang="zh-CN" i="1" dirty="0">
                  <a:latin typeface="Times New Roman" panose="02020603050405020304" pitchFamily="18" charset="0"/>
                  <a:ea typeface="宋体" panose="02010600030101010101" pitchFamily="2" charset="-122"/>
                </a:rPr>
                <a:t>X</a:t>
              </a:r>
              <a:r>
                <a:rPr lang="pt-BR" altLang="zh-CN" dirty="0">
                  <a:latin typeface="Times New Roman" panose="02020603050405020304" pitchFamily="18" charset="0"/>
                  <a:ea typeface="宋体" panose="02010600030101010101" pitchFamily="2" charset="-122"/>
                </a:rPr>
                <a:t>(</a:t>
              </a:r>
              <a:r>
                <a:rPr lang="pt-BR" altLang="zh-CN" i="1" dirty="0">
                  <a:latin typeface="Times New Roman" panose="02020603050405020304" pitchFamily="18" charset="0"/>
                  <a:ea typeface="宋体" panose="02010600030101010101" pitchFamily="2" charset="-122"/>
                </a:rPr>
                <a:t>k</a:t>
              </a:r>
              <a:r>
                <a:rPr lang="pt-BR" altLang="zh-CN" dirty="0">
                  <a:latin typeface="Times New Roman" panose="02020603050405020304" pitchFamily="18" charset="0"/>
                  <a:ea typeface="宋体" panose="02010600030101010101" pitchFamily="2" charset="-122"/>
                </a:rPr>
                <a:t>)=FFT[</a:t>
              </a:r>
              <a:r>
                <a:rPr lang="pt-BR" altLang="zh-CN" i="1" dirty="0">
                  <a:latin typeface="Times New Roman" panose="02020603050405020304" pitchFamily="18" charset="0"/>
                  <a:ea typeface="宋体" panose="02010600030101010101" pitchFamily="2" charset="-122"/>
                </a:rPr>
                <a:t>x</a:t>
              </a:r>
              <a:r>
                <a:rPr lang="pt-BR" altLang="zh-CN" dirty="0">
                  <a:latin typeface="Times New Roman" panose="02020603050405020304" pitchFamily="18" charset="0"/>
                  <a:ea typeface="宋体" panose="02010600030101010101" pitchFamily="2" charset="-122"/>
                </a:rPr>
                <a:t>(</a:t>
              </a:r>
              <a:r>
                <a:rPr lang="pt-BR" altLang="zh-CN" i="1" dirty="0">
                  <a:latin typeface="Times New Roman" panose="02020603050405020304" pitchFamily="18" charset="0"/>
                  <a:ea typeface="宋体" panose="02010600030101010101" pitchFamily="2" charset="-122"/>
                </a:rPr>
                <a:t>n</a:t>
              </a:r>
              <a:r>
                <a:rPr lang="pt-BR" altLang="zh-CN" dirty="0">
                  <a:latin typeface="Times New Roman" panose="02020603050405020304" pitchFamily="18" charset="0"/>
                  <a:ea typeface="宋体" panose="02010600030101010101" pitchFamily="2" charset="-122"/>
                </a:rPr>
                <a:t>)] </a:t>
              </a:r>
              <a:r>
                <a:rPr lang="zh-CN" altLang="pt-BR" dirty="0">
                  <a:latin typeface="Times New Roman" panose="02020603050405020304" pitchFamily="18" charset="0"/>
                  <a:ea typeface="宋体" panose="02010600030101010101" pitchFamily="2" charset="-122"/>
                </a:rPr>
                <a:t>， </a:t>
              </a:r>
              <a:r>
                <a:rPr lang="zh-CN" altLang="pt-BR" i="1" dirty="0">
                  <a:latin typeface="Times New Roman" panose="02020603050405020304" pitchFamily="18" charset="0"/>
                  <a:ea typeface="宋体" panose="02010600030101010101" pitchFamily="2" charset="-122"/>
                </a:rPr>
                <a:t> </a:t>
              </a:r>
              <a:r>
                <a:rPr lang="pt-BR" altLang="zh-CN" i="1" dirty="0">
                  <a:latin typeface="Times New Roman" panose="02020603050405020304" pitchFamily="18" charset="0"/>
                  <a:ea typeface="宋体" panose="02010600030101010101" pitchFamily="2" charset="-122"/>
                </a:rPr>
                <a:t>k</a:t>
              </a:r>
              <a:r>
                <a:rPr lang="pt-BR" altLang="zh-CN" dirty="0">
                  <a:latin typeface="Times New Roman" panose="02020603050405020304" pitchFamily="18" charset="0"/>
                  <a:ea typeface="宋体" panose="02010600030101010101" pitchFamily="2" charset="-122"/>
                </a:rPr>
                <a:t>=0,1,2,3,</a:t>
              </a:r>
              <a:r>
                <a:rPr lang="pt-BR" altLang="zh-CN" dirty="0">
                  <a:latin typeface="宋体" panose="02010600030101010101" pitchFamily="2" charset="-122"/>
                  <a:ea typeface="宋体" panose="02010600030101010101" pitchFamily="2" charset="-122"/>
                </a:rPr>
                <a:t>…</a:t>
              </a:r>
              <a:r>
                <a:rPr lang="pt-BR" altLang="zh-CN" dirty="0">
                  <a:latin typeface="Times New Roman" panose="02020603050405020304" pitchFamily="18" charset="0"/>
                  <a:ea typeface="宋体" panose="02010600030101010101" pitchFamily="2" charset="-122"/>
                </a:rPr>
                <a:t>,</a:t>
              </a:r>
              <a:r>
                <a:rPr lang="pt-BR" altLang="zh-CN" i="1" dirty="0">
                  <a:latin typeface="Times New Roman" panose="02020603050405020304" pitchFamily="18" charset="0"/>
                  <a:ea typeface="宋体" panose="02010600030101010101" pitchFamily="2" charset="-122"/>
                </a:rPr>
                <a:t>M</a:t>
              </a:r>
              <a:r>
                <a:rPr lang="zh-CN" altLang="pt-BR" i="1"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1</a:t>
              </a:r>
              <a:endParaRPr lang="pt-BR" altLang="zh-CN"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式中</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代表的频率为</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要求：  编写实验程序，计算</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的幅度特性，并绘图显示。观察分析频谱混叠失真。</a:t>
              </a:r>
              <a:endParaRPr lang="zh-CN" altLang="en-US" dirty="0">
                <a:latin typeface="Times New Roman" panose="02020603050405020304" pitchFamily="18" charset="0"/>
                <a:ea typeface="宋体" panose="02010600030101010101" pitchFamily="2" charset="-122"/>
              </a:endParaRPr>
            </a:p>
          </p:txBody>
        </p:sp>
        <p:graphicFrame>
          <p:nvGraphicFramePr>
            <p:cNvPr id="32771" name="对象 711682"/>
            <p:cNvGraphicFramePr/>
            <p:nvPr/>
          </p:nvGraphicFramePr>
          <p:xfrm>
            <a:off x="2224" y="1395"/>
            <a:ext cx="813" cy="491"/>
          </p:xfrm>
          <a:graphic>
            <a:graphicData uri="http://schemas.openxmlformats.org/presentationml/2006/ole">
              <mc:AlternateContent xmlns:mc="http://schemas.openxmlformats.org/markup-compatibility/2006">
                <mc:Choice xmlns:v="urn:schemas-microsoft-com:vml" Requires="v">
                  <p:oleObj spid="_x0000_s3092" name="" r:id="rId1" imgW="647700" imgH="393700" progId="Equation.DSMT4">
                    <p:embed/>
                  </p:oleObj>
                </mc:Choice>
                <mc:Fallback>
                  <p:oleObj name="" r:id="rId1" imgW="647700" imgH="393700" progId="Equation.DSMT4">
                    <p:embed/>
                    <p:pic>
                      <p:nvPicPr>
                        <p:cNvPr id="0" name="图片 3091"/>
                        <p:cNvPicPr/>
                        <p:nvPr/>
                      </p:nvPicPr>
                      <p:blipFill>
                        <a:blip r:embed="rId2"/>
                        <a:stretch>
                          <a:fillRect/>
                        </a:stretch>
                      </p:blipFill>
                      <p:spPr>
                        <a:xfrm>
                          <a:off x="2224" y="1395"/>
                          <a:ext cx="813" cy="491"/>
                        </a:xfrm>
                        <a:prstGeom prst="rect">
                          <a:avLst/>
                        </a:prstGeom>
                        <a:noFill/>
                        <a:ln w="38100">
                          <a:noFill/>
                          <a:miter/>
                        </a:ln>
                      </p:spPr>
                    </p:pic>
                  </p:oleObj>
                </mc:Fallback>
              </mc:AlternateContent>
            </a:graphicData>
          </a:graphic>
        </p:graphicFrame>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3793" name="组合 794625"/>
          <p:cNvGrpSpPr/>
          <p:nvPr/>
        </p:nvGrpSpPr>
        <p:grpSpPr>
          <a:xfrm>
            <a:off x="468313" y="549275"/>
            <a:ext cx="8280400" cy="5753100"/>
            <a:chOff x="295" y="482"/>
            <a:chExt cx="5216" cy="3624"/>
          </a:xfrm>
        </p:grpSpPr>
        <p:sp>
          <p:nvSpPr>
            <p:cNvPr id="33794" name="文本框 794626"/>
            <p:cNvSpPr txBox="1"/>
            <p:nvPr/>
          </p:nvSpPr>
          <p:spPr>
            <a:xfrm>
              <a:off x="295" y="482"/>
              <a:ext cx="5216" cy="2152"/>
            </a:xfrm>
            <a:prstGeom prst="rect">
              <a:avLst/>
            </a:prstGeom>
            <a:noFill/>
            <a:ln w="9525">
              <a:noFill/>
            </a:ln>
          </p:spPr>
          <p:txBody>
            <a:bodyPr anchor="t" anchorCtr="0">
              <a:spAutoFit/>
            </a:bodyPr>
            <a:p>
              <a:pPr>
                <a:lnSpc>
                  <a:spcPct val="130000"/>
                </a:lnSpc>
              </a:pPr>
              <a:r>
                <a:rPr lang="en-US" altLang="zh-CN" b="1"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频域采样理论的验证。 　</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给定信号如下： </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编写程序分别对频谱函数</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a:t>
              </a:r>
              <a:r>
                <a:rPr lang="en-US" altLang="zh-CN" i="1" baseline="30000"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)=FT</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］在区间［</a:t>
              </a:r>
              <a:r>
                <a:rPr lang="en-US" altLang="zh-CN" dirty="0">
                  <a:latin typeface="Times New Roman" panose="02020603050405020304" pitchFamily="18" charset="0"/>
                  <a:ea typeface="宋体" panose="02010600030101010101" pitchFamily="2" charset="-122"/>
                </a:rPr>
                <a:t>0, 2π</a:t>
              </a:r>
              <a:r>
                <a:rPr lang="zh-CN" altLang="en-US" dirty="0">
                  <a:latin typeface="Times New Roman" panose="02020603050405020304" pitchFamily="18" charset="0"/>
                  <a:ea typeface="宋体" panose="02010600030101010101" pitchFamily="2" charset="-122"/>
                </a:rPr>
                <a:t>］上等间隔采样</a:t>
              </a:r>
              <a:r>
                <a:rPr lang="en-US" altLang="zh-CN" dirty="0">
                  <a:latin typeface="Times New Roman" panose="02020603050405020304" pitchFamily="18"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点和</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点，得到</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32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16</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33795" name="对象 794627"/>
            <p:cNvGraphicFramePr/>
            <p:nvPr/>
          </p:nvGraphicFramePr>
          <p:xfrm>
            <a:off x="1610" y="935"/>
            <a:ext cx="2449" cy="998"/>
          </p:xfrm>
          <a:graphic>
            <a:graphicData uri="http://schemas.openxmlformats.org/presentationml/2006/ole">
              <mc:AlternateContent xmlns:mc="http://schemas.openxmlformats.org/markup-compatibility/2006">
                <mc:Choice xmlns:v="urn:schemas-microsoft-com:vml" Requires="v">
                  <p:oleObj spid="_x0000_s3098" name="" r:id="rId1" imgW="1753235" imgH="711200" progId="Equation.DSMT4">
                    <p:embed/>
                  </p:oleObj>
                </mc:Choice>
                <mc:Fallback>
                  <p:oleObj name="" r:id="rId1" imgW="1753235" imgH="711200" progId="Equation.DSMT4">
                    <p:embed/>
                    <p:pic>
                      <p:nvPicPr>
                        <p:cNvPr id="0" name="图片 3097"/>
                        <p:cNvPicPr/>
                        <p:nvPr/>
                      </p:nvPicPr>
                      <p:blipFill>
                        <a:blip r:embed="rId2"/>
                        <a:stretch>
                          <a:fillRect/>
                        </a:stretch>
                      </p:blipFill>
                      <p:spPr>
                        <a:xfrm>
                          <a:off x="1610" y="935"/>
                          <a:ext cx="2449" cy="998"/>
                        </a:xfrm>
                        <a:prstGeom prst="rect">
                          <a:avLst/>
                        </a:prstGeom>
                        <a:noFill/>
                        <a:ln w="38100">
                          <a:noFill/>
                          <a:miter/>
                        </a:ln>
                      </p:spPr>
                    </p:pic>
                  </p:oleObj>
                </mc:Fallback>
              </mc:AlternateContent>
            </a:graphicData>
          </a:graphic>
        </p:graphicFrame>
        <p:graphicFrame>
          <p:nvGraphicFramePr>
            <p:cNvPr id="33796" name="对象 794628"/>
            <p:cNvGraphicFramePr/>
            <p:nvPr/>
          </p:nvGraphicFramePr>
          <p:xfrm>
            <a:off x="1247" y="2749"/>
            <a:ext cx="3235" cy="606"/>
          </p:xfrm>
          <a:graphic>
            <a:graphicData uri="http://schemas.openxmlformats.org/presentationml/2006/ole">
              <mc:AlternateContent xmlns:mc="http://schemas.openxmlformats.org/markup-compatibility/2006">
                <mc:Choice xmlns:v="urn:schemas-microsoft-com:vml" Requires="v">
                  <p:oleObj spid="_x0000_s3096" name="" r:id="rId3" imgW="2589530" imgH="482600" progId="Equation.DSMT4">
                    <p:embed/>
                  </p:oleObj>
                </mc:Choice>
                <mc:Fallback>
                  <p:oleObj name="" r:id="rId3" imgW="2589530" imgH="482600" progId="Equation.DSMT4">
                    <p:embed/>
                    <p:pic>
                      <p:nvPicPr>
                        <p:cNvPr id="0" name="图片 3095"/>
                        <p:cNvPicPr/>
                        <p:nvPr/>
                      </p:nvPicPr>
                      <p:blipFill>
                        <a:blip r:embed="rId4"/>
                        <a:stretch>
                          <a:fillRect/>
                        </a:stretch>
                      </p:blipFill>
                      <p:spPr>
                        <a:xfrm>
                          <a:off x="1247" y="2749"/>
                          <a:ext cx="3235" cy="606"/>
                        </a:xfrm>
                        <a:prstGeom prst="rect">
                          <a:avLst/>
                        </a:prstGeom>
                        <a:noFill/>
                        <a:ln w="38100">
                          <a:noFill/>
                          <a:miter/>
                        </a:ln>
                      </p:spPr>
                    </p:pic>
                  </p:oleObj>
                </mc:Fallback>
              </mc:AlternateContent>
            </a:graphicData>
          </a:graphic>
        </p:graphicFrame>
        <p:graphicFrame>
          <p:nvGraphicFramePr>
            <p:cNvPr id="33797" name="对象 794629"/>
            <p:cNvGraphicFramePr/>
            <p:nvPr/>
          </p:nvGraphicFramePr>
          <p:xfrm>
            <a:off x="1202" y="3476"/>
            <a:ext cx="3402" cy="630"/>
          </p:xfrm>
          <a:graphic>
            <a:graphicData uri="http://schemas.openxmlformats.org/presentationml/2006/ole">
              <mc:AlternateContent xmlns:mc="http://schemas.openxmlformats.org/markup-compatibility/2006">
                <mc:Choice xmlns:v="urn:schemas-microsoft-com:vml" Requires="v">
                  <p:oleObj spid="_x0000_s3100" name="" r:id="rId5" imgW="2627630" imgH="482600" progId="Equation.DSMT4">
                    <p:embed/>
                  </p:oleObj>
                </mc:Choice>
                <mc:Fallback>
                  <p:oleObj name="" r:id="rId5" imgW="2627630" imgH="482600" progId="Equation.DSMT4">
                    <p:embed/>
                    <p:pic>
                      <p:nvPicPr>
                        <p:cNvPr id="0" name="图片 3099"/>
                        <p:cNvPicPr/>
                        <p:nvPr/>
                      </p:nvPicPr>
                      <p:blipFill>
                        <a:blip r:embed="rId6"/>
                        <a:stretch>
                          <a:fillRect/>
                        </a:stretch>
                      </p:blipFill>
                      <p:spPr>
                        <a:xfrm>
                          <a:off x="1202" y="3476"/>
                          <a:ext cx="3402" cy="630"/>
                        </a:xfrm>
                        <a:prstGeom prst="rect">
                          <a:avLst/>
                        </a:prstGeom>
                        <a:noFill/>
                        <a:ln w="38100">
                          <a:noFill/>
                          <a:miter/>
                        </a:ln>
                      </p:spPr>
                    </p:pic>
                  </p:oleObj>
                </mc:Fallback>
              </mc:AlternateContent>
            </a:graphicData>
          </a:graphic>
        </p:graphicFrame>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4817" name="组合 795649"/>
          <p:cNvGrpSpPr/>
          <p:nvPr/>
        </p:nvGrpSpPr>
        <p:grpSpPr>
          <a:xfrm>
            <a:off x="684213" y="595313"/>
            <a:ext cx="7920037" cy="4841875"/>
            <a:chOff x="431" y="375"/>
            <a:chExt cx="4989" cy="3050"/>
          </a:xfrm>
        </p:grpSpPr>
        <p:sp>
          <p:nvSpPr>
            <p:cNvPr id="34818" name="文本框 795650"/>
            <p:cNvSpPr txBox="1"/>
            <p:nvPr/>
          </p:nvSpPr>
          <p:spPr>
            <a:xfrm>
              <a:off x="431" y="375"/>
              <a:ext cx="4989" cy="3050"/>
            </a:xfrm>
            <a:prstGeom prst="rect">
              <a:avLst/>
            </a:prstGeom>
            <a:noFill/>
            <a:ln w="9525">
              <a:noFill/>
            </a:ln>
          </p:spPr>
          <p:txBody>
            <a:bodyPr anchor="t" anchorCtr="0">
              <a:spAutoFit/>
            </a:bodyPr>
            <a:p>
              <a:pPr>
                <a:lnSpc>
                  <a:spcPct val="130000"/>
                </a:lnSpc>
              </a:pPr>
              <a:r>
                <a:rPr lang="zh-CN" altLang="en-US" dirty="0">
                  <a:latin typeface="Times New Roman" panose="02020603050405020304" pitchFamily="18" charset="0"/>
                  <a:ea typeface="宋体" panose="02010600030101010101" pitchFamily="2" charset="-122"/>
                </a:rPr>
                <a:t>再分别对</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32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16</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进行</a:t>
              </a:r>
              <a:r>
                <a:rPr lang="en-US" altLang="zh-CN" dirty="0">
                  <a:latin typeface="Times New Roman" panose="02020603050405020304" pitchFamily="18"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点和</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IFFT</a:t>
              </a:r>
              <a:r>
                <a:rPr lang="zh-CN" altLang="en-US" dirty="0">
                  <a:latin typeface="Times New Roman" panose="02020603050405020304" pitchFamily="18" charset="0"/>
                  <a:ea typeface="宋体" panose="02010600030101010101" pitchFamily="2" charset="-122"/>
                </a:rPr>
                <a:t>，得到</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32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16</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分别画出</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a:t>
              </a:r>
              <a:r>
                <a:rPr lang="en-US" altLang="zh-CN" i="1" baseline="30000"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32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zh-CN" altLang="en-US" i="1" dirty="0">
                  <a:latin typeface="Times New Roman" panose="02020603050405020304" pitchFamily="18" charset="0"/>
                  <a:ea typeface="宋体" panose="02010600030101010101" pitchFamily="2" charset="-122"/>
                </a:rPr>
                <a:t>Ｘ</a:t>
              </a:r>
              <a:r>
                <a:rPr lang="en-US" altLang="zh-CN" baseline="-25000" dirty="0">
                  <a:latin typeface="Times New Roman" panose="02020603050405020304" pitchFamily="18" charset="0"/>
                  <a:ea typeface="宋体" panose="02010600030101010101" pitchFamily="2" charset="-122"/>
                </a:rPr>
                <a:t>16</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的幅度谱，并绘图显示</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32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16</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的波形，进行对比和分析，验证总结频域采样理论。</a:t>
              </a:r>
              <a:endParaRPr lang="zh-CN" altLang="en-US" dirty="0">
                <a:latin typeface="Times New Roman" panose="02020603050405020304" pitchFamily="18" charset="0"/>
                <a:ea typeface="宋体" panose="02010600030101010101" pitchFamily="2" charset="-122"/>
              </a:endParaRPr>
            </a:p>
          </p:txBody>
        </p:sp>
        <p:graphicFrame>
          <p:nvGraphicFramePr>
            <p:cNvPr id="34819" name="对象 795651"/>
            <p:cNvGraphicFramePr/>
            <p:nvPr/>
          </p:nvGraphicFramePr>
          <p:xfrm>
            <a:off x="975" y="1207"/>
            <a:ext cx="3855" cy="326"/>
          </p:xfrm>
          <a:graphic>
            <a:graphicData uri="http://schemas.openxmlformats.org/presentationml/2006/ole">
              <mc:AlternateContent xmlns:mc="http://schemas.openxmlformats.org/markup-compatibility/2006">
                <mc:Choice xmlns:v="urn:schemas-microsoft-com:vml" Requires="v">
                  <p:oleObj spid="_x0000_s3097" name="" r:id="rId1" imgW="2705100" imgH="228600" progId="Equation.DSMT4">
                    <p:embed/>
                  </p:oleObj>
                </mc:Choice>
                <mc:Fallback>
                  <p:oleObj name="" r:id="rId1" imgW="2705100" imgH="228600" progId="Equation.DSMT4">
                    <p:embed/>
                    <p:pic>
                      <p:nvPicPr>
                        <p:cNvPr id="0" name="图片 3096"/>
                        <p:cNvPicPr/>
                        <p:nvPr/>
                      </p:nvPicPr>
                      <p:blipFill>
                        <a:blip r:embed="rId2"/>
                        <a:stretch>
                          <a:fillRect/>
                        </a:stretch>
                      </p:blipFill>
                      <p:spPr>
                        <a:xfrm>
                          <a:off x="975" y="1207"/>
                          <a:ext cx="3855" cy="326"/>
                        </a:xfrm>
                        <a:prstGeom prst="rect">
                          <a:avLst/>
                        </a:prstGeom>
                        <a:noFill/>
                        <a:ln w="38100">
                          <a:noFill/>
                          <a:miter/>
                        </a:ln>
                      </p:spPr>
                    </p:pic>
                  </p:oleObj>
                </mc:Fallback>
              </mc:AlternateContent>
            </a:graphicData>
          </a:graphic>
        </p:graphicFrame>
        <p:graphicFrame>
          <p:nvGraphicFramePr>
            <p:cNvPr id="34820" name="对象 795652"/>
            <p:cNvGraphicFramePr/>
            <p:nvPr/>
          </p:nvGraphicFramePr>
          <p:xfrm>
            <a:off x="1020" y="1880"/>
            <a:ext cx="3765" cy="322"/>
          </p:xfrm>
          <a:graphic>
            <a:graphicData uri="http://schemas.openxmlformats.org/presentationml/2006/ole">
              <mc:AlternateContent xmlns:mc="http://schemas.openxmlformats.org/markup-compatibility/2006">
                <mc:Choice xmlns:v="urn:schemas-microsoft-com:vml" Requires="v">
                  <p:oleObj spid="_x0000_s3099" name="" r:id="rId3" imgW="2680970" imgH="228600" progId="Equation.DSMT4">
                    <p:embed/>
                  </p:oleObj>
                </mc:Choice>
                <mc:Fallback>
                  <p:oleObj name="" r:id="rId3" imgW="2680970" imgH="228600" progId="Equation.DSMT4">
                    <p:embed/>
                    <p:pic>
                      <p:nvPicPr>
                        <p:cNvPr id="0" name="图片 3098"/>
                        <p:cNvPicPr/>
                        <p:nvPr/>
                      </p:nvPicPr>
                      <p:blipFill>
                        <a:blip r:embed="rId4"/>
                        <a:stretch>
                          <a:fillRect/>
                        </a:stretch>
                      </p:blipFill>
                      <p:spPr>
                        <a:xfrm>
                          <a:off x="1020" y="1880"/>
                          <a:ext cx="3765" cy="322"/>
                        </a:xfrm>
                        <a:prstGeom prst="rect">
                          <a:avLst/>
                        </a:prstGeom>
                        <a:noFill/>
                        <a:ln w="38100">
                          <a:noFill/>
                          <a:miter/>
                        </a:ln>
                      </p:spPr>
                    </p:pic>
                  </p:oleObj>
                </mc:Fallback>
              </mc:AlternateContent>
            </a:graphicData>
          </a:graphic>
        </p:graphicFrame>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文本框 796673"/>
          <p:cNvSpPr txBox="1"/>
          <p:nvPr/>
        </p:nvSpPr>
        <p:spPr>
          <a:xfrm>
            <a:off x="539750" y="620713"/>
            <a:ext cx="7993063" cy="5846445"/>
          </a:xfrm>
          <a:prstGeom prst="rect">
            <a:avLst/>
          </a:prstGeom>
          <a:noFill/>
          <a:ln w="9525">
            <a:noFill/>
          </a:ln>
        </p:spPr>
        <p:txBody>
          <a:bodyPr anchor="t" anchorCtr="0">
            <a:spAutoFit/>
          </a:bodyPr>
          <a:p>
            <a:pPr>
              <a:lnSpc>
                <a:spcPct val="130000"/>
              </a:lnSpc>
            </a:pPr>
            <a:r>
              <a:rPr lang="zh-CN" altLang="en-US" dirty="0">
                <a:latin typeface="Times New Roman" panose="02020603050405020304" pitchFamily="18" charset="0"/>
                <a:ea typeface="宋体" panose="02010600030101010101" pitchFamily="2" charset="-122"/>
              </a:rPr>
              <a:t>　　提示： 频域采样用以下方法容易编程实现。</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直接调用</a:t>
            </a:r>
            <a:r>
              <a:rPr lang="en-US" altLang="zh-CN"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函数</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计算</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32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baseline="-25000" dirty="0">
                <a:latin typeface="Times New Roman" panose="02020603050405020304" pitchFamily="18"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就得到</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a:t>
            </a:r>
            <a:r>
              <a:rPr lang="en-US" altLang="zh-CN" i="1" baseline="30000"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0, 2π</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点频率域采样</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32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抽取</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32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的偶数点即可得到</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a:t>
            </a:r>
            <a:r>
              <a:rPr lang="en-US" altLang="zh-CN" i="1" baseline="30000"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0, 2π</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点频率域采样</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16</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16</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32</a:t>
            </a:r>
            <a:r>
              <a:rPr lang="en-US" altLang="zh-CN" dirty="0">
                <a:latin typeface="Times New Roman" panose="02020603050405020304" pitchFamily="18" charset="0"/>
                <a:ea typeface="宋体" panose="02010600030101010101" pitchFamily="2" charset="-122"/>
              </a:rPr>
              <a:t>(2</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=0, 1, 2, </a:t>
            </a:r>
            <a:r>
              <a:rPr lang="en-US" altLang="zh-CN" dirty="0">
                <a:latin typeface="宋体" panose="02010600030101010101" pitchFamily="2" charset="-122"/>
                <a:ea typeface="宋体" panose="02010600030101010101" pitchFamily="2" charset="-122"/>
              </a:rPr>
              <a:t>…</a:t>
            </a:r>
            <a:r>
              <a:rPr lang="en-US" altLang="zh-CN" dirty="0">
                <a:latin typeface="Times New Roman" panose="02020603050405020304" pitchFamily="18" charset="0"/>
                <a:ea typeface="宋体" panose="02010600030101010101" pitchFamily="2" charset="-122"/>
              </a:rPr>
              <a:t>, 15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当然</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也可以按照频域采样理论，先将信号</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以</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为周期进行周期延拓，取其主值区（</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点），再对其进行</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DFT(FFT), </a:t>
            </a:r>
            <a:r>
              <a:rPr lang="zh-CN" altLang="en-US" dirty="0">
                <a:latin typeface="Times New Roman" panose="02020603050405020304" pitchFamily="18" charset="0"/>
                <a:ea typeface="宋体" panose="02010600030101010101" pitchFamily="2" charset="-122"/>
              </a:rPr>
              <a:t>得到的就是</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(e</a:t>
            </a:r>
            <a:r>
              <a:rPr lang="en-US" altLang="zh-CN" baseline="30000" dirty="0">
                <a:latin typeface="Times New Roman" panose="02020603050405020304" pitchFamily="18" charset="0"/>
                <a:ea typeface="宋体" panose="02010600030101010101" pitchFamily="2" charset="-122"/>
              </a:rPr>
              <a:t>j</a:t>
            </a:r>
            <a:r>
              <a:rPr lang="en-US" altLang="zh-CN" i="1" baseline="30000" dirty="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0, 2π</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点频率域采样</a:t>
            </a:r>
            <a:r>
              <a:rPr lang="en-US" altLang="zh-CN" i="1"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16</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文本框 797697"/>
          <p:cNvSpPr txBox="1"/>
          <p:nvPr/>
        </p:nvSpPr>
        <p:spPr>
          <a:xfrm>
            <a:off x="900113" y="692150"/>
            <a:ext cx="7127875" cy="5846445"/>
          </a:xfrm>
          <a:prstGeom prst="rect">
            <a:avLst/>
          </a:prstGeom>
          <a:noFill/>
          <a:ln w="9525">
            <a:noFill/>
          </a:ln>
        </p:spPr>
        <p:txBody>
          <a:bodyPr anchor="t" anchorCtr="0">
            <a:spAutoFit/>
          </a:bodyPr>
          <a:p>
            <a:pPr>
              <a:lnSpc>
                <a:spcPct val="130000"/>
              </a:lnSpc>
            </a:pPr>
            <a:r>
              <a:rPr lang="zh-CN" altLang="en-US"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4.  </a:t>
            </a:r>
            <a:r>
              <a:rPr lang="zh-CN" altLang="en-US" b="1" dirty="0">
                <a:latin typeface="Times New Roman" panose="02020603050405020304" pitchFamily="18" charset="0"/>
                <a:ea typeface="宋体" panose="02010600030101010101" pitchFamily="2" charset="-122"/>
              </a:rPr>
              <a:t>实验报告及要求</a:t>
            </a:r>
            <a:endParaRPr lang="zh-CN" altLang="en-US" b="1" dirty="0">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编写运行程序</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附要求显示的图形。</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对实验结果进行简单分析。 </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附上程序清单和相关注释。</a:t>
            </a:r>
            <a:endParaRPr lang="en-US" altLang="zh-CN" dirty="0">
              <a:latin typeface="Times New Roman" panose="02020603050405020304" pitchFamily="18" charset="0"/>
              <a:ea typeface="宋体" panose="02010600030101010101" pitchFamily="2" charset="-122"/>
            </a:endParaRPr>
          </a:p>
          <a:p>
            <a:pPr>
              <a:lnSpc>
                <a:spcPct val="130000"/>
              </a:lnSpc>
            </a:pPr>
            <a:endParaRPr lang="en-US" altLang="zh-CN" dirty="0">
              <a:latin typeface="Times New Roman" panose="02020603050405020304" pitchFamily="18" charset="0"/>
              <a:ea typeface="宋体" panose="02010600030101010101" pitchFamily="2" charset="-122"/>
            </a:endParaRPr>
          </a:p>
          <a:p>
            <a:pPr>
              <a:lnSpc>
                <a:spcPct val="130000"/>
              </a:lnSpc>
            </a:pPr>
            <a:endParaRPr lang="en-US" altLang="zh-CN" dirty="0">
              <a:latin typeface="Times New Roman" panose="02020603050405020304" pitchFamily="18" charset="0"/>
              <a:ea typeface="宋体" panose="02010600030101010101" pitchFamily="2" charset="-122"/>
            </a:endParaRPr>
          </a:p>
          <a:p>
            <a:pPr>
              <a:lnSpc>
                <a:spcPct val="130000"/>
              </a:lnSpc>
            </a:pPr>
            <a:endParaRPr lang="en-US" altLang="zh-CN" dirty="0">
              <a:latin typeface="Times New Roman" panose="02020603050405020304" pitchFamily="18" charset="0"/>
              <a:ea typeface="宋体" panose="02010600030101010101" pitchFamily="2" charset="-122"/>
            </a:endParaRPr>
          </a:p>
          <a:p>
            <a:pPr>
              <a:lnSpc>
                <a:spcPct val="130000"/>
              </a:lnSpc>
            </a:pPr>
            <a:r>
              <a:rPr lang="zh-CN" altLang="en-US" dirty="0">
                <a:solidFill>
                  <a:srgbClr val="FF0000"/>
                </a:solidFill>
                <a:latin typeface="Times New Roman" panose="02020603050405020304" pitchFamily="18" charset="0"/>
                <a:ea typeface="宋体" panose="02010600030101010101" pitchFamily="2" charset="-122"/>
              </a:rPr>
              <a:t>实验报告发送至：</a:t>
            </a:r>
            <a:r>
              <a:rPr lang="en-US" altLang="zh-CN" dirty="0">
                <a:solidFill>
                  <a:srgbClr val="FF0000"/>
                </a:solidFill>
                <a:latin typeface="Times New Roman" panose="02020603050405020304" pitchFamily="18" charset="0"/>
                <a:ea typeface="宋体" panose="02010600030101010101" pitchFamily="2" charset="-122"/>
              </a:rPr>
              <a:t>pupil_119@nwpu.edu.cn</a:t>
            </a:r>
            <a:endParaRPr lang="en-US" altLang="zh-CN" dirty="0">
              <a:solidFill>
                <a:srgbClr val="FF0000"/>
              </a:solidFill>
              <a:latin typeface="Times New Roman" panose="02020603050405020304" pitchFamily="18" charset="0"/>
              <a:ea typeface="宋体" panose="02010600030101010101" pitchFamily="2" charset="-122"/>
            </a:endParaRPr>
          </a:p>
          <a:p>
            <a:pPr>
              <a:lnSpc>
                <a:spcPct val="130000"/>
              </a:lnSpc>
            </a:pPr>
            <a:r>
              <a:rPr lang="en-US" altLang="zh-CN" dirty="0">
                <a:solidFill>
                  <a:srgbClr val="FF0000"/>
                </a:solidFill>
                <a:latin typeface="Times New Roman" panose="02020603050405020304" pitchFamily="18" charset="0"/>
                <a:ea typeface="宋体" panose="02010600030101010101" pitchFamily="2" charset="-122"/>
              </a:rPr>
              <a:t>  </a:t>
            </a:r>
            <a:endParaRPr lang="en-US" altLang="zh-CN" dirty="0">
              <a:solidFill>
                <a:srgbClr val="FF0000"/>
              </a:solidFill>
              <a:latin typeface="Times New Roman" panose="02020603050405020304" pitchFamily="18" charset="0"/>
              <a:ea typeface="宋体" panose="02010600030101010101" pitchFamily="2" charset="-122"/>
            </a:endParaRPr>
          </a:p>
          <a:p>
            <a:pPr>
              <a:lnSpc>
                <a:spcPct val="130000"/>
              </a:lnSpc>
            </a:pP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文件名标注好姓名和学号</a:t>
            </a:r>
            <a:endParaRPr lang="en-US" altLang="zh-CN" dirty="0">
              <a:solidFill>
                <a:srgbClr val="FF0000"/>
              </a:solidFill>
              <a:latin typeface="Times New Roman" panose="02020603050405020304" pitchFamily="18" charset="0"/>
              <a:ea typeface="宋体" panose="02010600030101010101" pitchFamily="2" charset="-122"/>
            </a:endParaRPr>
          </a:p>
          <a:p>
            <a:pPr>
              <a:lnSpc>
                <a:spcPct val="130000"/>
              </a:lnSpc>
            </a:pPr>
            <a:endParaRPr lang="zh-CN" altLang="en-US" dirty="0">
              <a:latin typeface="Times New Roman" panose="02020603050405020304" pitchFamily="18" charset="0"/>
              <a:ea typeface="宋体" panose="02010600030101010101" pitchFamily="2" charset="-122"/>
            </a:endParaRPr>
          </a:p>
        </p:txBody>
      </p:sp>
      <p:sp>
        <p:nvSpPr>
          <p:cNvPr id="36866" name="动作按钮: 后退或前一项 797698">
            <a:hlinkClick r:id="" action="ppaction://hlinkshowjump?jump=firstslide"/>
          </p:cNvPr>
          <p:cNvSpPr/>
          <p:nvPr/>
        </p:nvSpPr>
        <p:spPr>
          <a:xfrm>
            <a:off x="8388350" y="6308725"/>
            <a:ext cx="755650" cy="549275"/>
          </a:xfrm>
          <a:prstGeom prst="actionButtonBackPrevious">
            <a:avLst/>
          </a:prstGeom>
          <a:solidFill>
            <a:schemeClr val="accent1"/>
          </a:solidFill>
          <a:ln w="9525">
            <a:noFill/>
          </a:ln>
        </p:spPr>
        <p:txBody>
          <a:bodyPr anchor="t" anchorCtr="0"/>
          <a:p>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2150,&quot;width&quot;:8960}"/>
</p:tagLst>
</file>

<file path=ppt/tags/tag2.xml><?xml version="1.0" encoding="utf-8"?>
<p:tagLst xmlns:p="http://schemas.openxmlformats.org/presentationml/2006/main">
  <p:tag name="KSO_WM_UNIT_PLACING_PICTURE_USER_VIEWPORT" val="{&quot;height&quot;:5090,&quot;width&quot;:7930}"/>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660066"/>
      </a:hlink>
      <a:folHlink>
        <a:srgbClr val="9900FF"/>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660066"/>
        </a:hlink>
        <a:folHlink>
          <a:srgbClr val="9900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4568</Words>
  <Application>WPS 演示</Application>
  <PresentationFormat>全屏显示(4:3)</PresentationFormat>
  <Paragraphs>271</Paragraphs>
  <Slides>35</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27</vt:i4>
      </vt:variant>
      <vt:variant>
        <vt:lpstr>幻灯片标题</vt:lpstr>
      </vt:variant>
      <vt:variant>
        <vt:i4>35</vt:i4>
      </vt:variant>
    </vt:vector>
  </HeadingPairs>
  <TitlesOfParts>
    <vt:vector size="79" baseType="lpstr">
      <vt:lpstr>Arial</vt:lpstr>
      <vt:lpstr>宋体</vt:lpstr>
      <vt:lpstr>Wingdings</vt:lpstr>
      <vt:lpstr>汉仪书宋二KW</vt:lpstr>
      <vt:lpstr>Calibri</vt:lpstr>
      <vt:lpstr>Helvetica Neue</vt:lpstr>
      <vt:lpstr>Times New Roman</vt:lpstr>
      <vt:lpstr>微软雅黑</vt:lpstr>
      <vt:lpstr>汉仪旗黑</vt:lpstr>
      <vt:lpstr>黑体</vt:lpstr>
      <vt:lpstr>Arial Unicode MS</vt:lpstr>
      <vt:lpstr>楷体_GB2312</vt:lpstr>
      <vt:lpstr>新宋体</vt:lpstr>
      <vt:lpstr>汉仪楷体简</vt:lpstr>
      <vt:lpstr>方正书宋_GBK</vt:lpstr>
      <vt:lpstr>Arial Unicode MS</vt:lpstr>
      <vt:lpstr>默认设计模板</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wp</dc:creator>
  <cp:lastModifiedBy>程伟</cp:lastModifiedBy>
  <cp:revision>180</cp:revision>
  <dcterms:created xsi:type="dcterms:W3CDTF">2008-03-14T07:21:39Z</dcterms:created>
  <dcterms:modified xsi:type="dcterms:W3CDTF">2024-12-16T13:42:57Z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06508D3D337B4A9EBE4636B2AE3707F7_13</vt:lpwstr>
  </property>
</Properties>
</file>